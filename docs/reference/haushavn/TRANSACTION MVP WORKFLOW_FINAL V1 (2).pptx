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A73669-D756-46F4-B118-9EE7C928A28B}">
  <a:tblStyle styleId="{58A73669-D756-46F4-B118-9EE7C928A2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31c015a3b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31c015a3b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8c593ee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b8c593ee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61e8736f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61e8736f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690325ae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690325a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8250" y="224625"/>
            <a:ext cx="9218038" cy="362655"/>
            <a:chOff x="-9069" y="135086"/>
            <a:chExt cx="9250414" cy="638703"/>
          </a:xfrm>
        </p:grpSpPr>
        <p:sp>
          <p:nvSpPr>
            <p:cNvPr id="55" name="Google Shape;55;p13"/>
            <p:cNvSpPr/>
            <p:nvPr/>
          </p:nvSpPr>
          <p:spPr>
            <a:xfrm>
              <a:off x="7954645" y="151289"/>
              <a:ext cx="1286700" cy="590100"/>
            </a:xfrm>
            <a:prstGeom prst="homePlate">
              <a:avLst>
                <a:gd fmla="val 50000" name="adj"/>
              </a:avLst>
            </a:prstGeom>
            <a:solidFill>
              <a:srgbClr val="D9D2E9"/>
            </a:solidFill>
            <a:ln cap="flat" cmpd="sng" w="9525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T6</a:t>
              </a:r>
              <a:b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Closing &amp; Funded</a:t>
              </a:r>
              <a:endParaRPr sz="1000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6460198" y="151289"/>
              <a:ext cx="1449000" cy="622500"/>
            </a:xfrm>
            <a:prstGeom prst="homePlate">
              <a:avLst>
                <a:gd fmla="val 50000" name="adj"/>
              </a:avLst>
            </a:prstGeom>
            <a:solidFill>
              <a:srgbClr val="D9D2E9"/>
            </a:solidFill>
            <a:ln cap="flat" cmpd="sng" w="9525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T5</a:t>
              </a:r>
              <a:b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Clear</a:t>
              </a: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-to-close (C2C)</a:t>
              </a:r>
              <a:endParaRPr sz="1000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277760" y="135086"/>
              <a:ext cx="1545900" cy="606300"/>
            </a:xfrm>
            <a:prstGeom prst="homePlate">
              <a:avLst>
                <a:gd fmla="val 50000" name="adj"/>
              </a:avLst>
            </a:prstGeom>
            <a:solidFill>
              <a:srgbClr val="D9D2E9"/>
            </a:solidFill>
            <a:ln cap="flat" cmpd="sng" w="9525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T2</a:t>
              </a:r>
              <a:b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PAL &amp; Offer Build</a:t>
              </a:r>
              <a:endParaRPr sz="1000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4584634" y="151289"/>
              <a:ext cx="1846800" cy="622500"/>
            </a:xfrm>
            <a:prstGeom prst="homePlate">
              <a:avLst>
                <a:gd fmla="val 50000" name="adj"/>
              </a:avLst>
            </a:prstGeom>
            <a:solidFill>
              <a:srgbClr val="D9D2E9"/>
            </a:solidFill>
            <a:ln cap="flat" cmpd="sng" w="9525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T4</a:t>
              </a:r>
              <a:b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Due Diligence / Re-</a:t>
              </a: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negotiation</a:t>
              </a:r>
              <a:endParaRPr sz="1000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838623" y="151377"/>
              <a:ext cx="1748400" cy="606300"/>
            </a:xfrm>
            <a:prstGeom prst="homePlate">
              <a:avLst>
                <a:gd fmla="val 50000" name="adj"/>
              </a:avLst>
            </a:prstGeom>
            <a:solidFill>
              <a:srgbClr val="D9D2E9"/>
            </a:solidFill>
            <a:ln cap="flat" cmpd="sng" w="9525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T3</a:t>
              </a:r>
              <a:b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Under Contract</a:t>
              </a:r>
              <a:endParaRPr sz="1000">
                <a:solidFill>
                  <a:srgbClr val="351C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-9069" y="151377"/>
              <a:ext cx="1286700" cy="590100"/>
            </a:xfrm>
            <a:prstGeom prst="homePlate">
              <a:avLst>
                <a:gd fmla="val 50000" name="adj"/>
              </a:avLst>
            </a:prstGeom>
            <a:solidFill>
              <a:srgbClr val="D9D2E9"/>
            </a:solidFill>
            <a:ln cap="flat" cmpd="sng" w="9525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T1</a:t>
              </a:r>
              <a:b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>
                  <a:solidFill>
                    <a:srgbClr val="351C75"/>
                  </a:solidFill>
                  <a:latin typeface="Roboto"/>
                  <a:ea typeface="Roboto"/>
                  <a:cs typeface="Roboto"/>
                  <a:sym typeface="Roboto"/>
                </a:rPr>
                <a:t>Preparation</a:t>
              </a:r>
              <a:endParaRPr>
                <a:solidFill>
                  <a:srgbClr val="351C75"/>
                </a:solidFill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-8237" y="582878"/>
            <a:ext cx="1243104" cy="788762"/>
            <a:chOff x="285458" y="211945"/>
            <a:chExt cx="1802384" cy="788762"/>
          </a:xfrm>
        </p:grpSpPr>
        <p:sp>
          <p:nvSpPr>
            <p:cNvPr id="62" name="Google Shape;62;p13"/>
            <p:cNvSpPr/>
            <p:nvPr/>
          </p:nvSpPr>
          <p:spPr>
            <a:xfrm>
              <a:off x="288605" y="743607"/>
              <a:ext cx="1791300" cy="2571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B3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Financial Readiness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90242" y="211945"/>
              <a:ext cx="1797600" cy="2571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B1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Add Property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85458" y="477776"/>
              <a:ext cx="1797600" cy="2571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B2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Confirm Team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sp>
        <p:nvSpPr>
          <p:cNvPr id="65" name="Google Shape;65;p13"/>
          <p:cNvSpPr txBox="1"/>
          <p:nvPr/>
        </p:nvSpPr>
        <p:spPr>
          <a:xfrm>
            <a:off x="865125" y="0"/>
            <a:ext cx="7259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2"/>
                </a:solidFill>
              </a:rPr>
              <a:t>TRANSACTION SPINE MILESTONES - MVP (Collaboration Visual)</a:t>
            </a:r>
            <a:endParaRPr b="1" sz="1300" u="sng">
              <a:solidFill>
                <a:schemeClr val="dk2"/>
              </a:solidFill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1307925" y="591325"/>
            <a:ext cx="1443935" cy="1476977"/>
            <a:chOff x="1171407" y="1435415"/>
            <a:chExt cx="1683300" cy="1476977"/>
          </a:xfrm>
        </p:grpSpPr>
        <p:grpSp>
          <p:nvGrpSpPr>
            <p:cNvPr id="67" name="Google Shape;67;p13"/>
            <p:cNvGrpSpPr/>
            <p:nvPr/>
          </p:nvGrpSpPr>
          <p:grpSpPr>
            <a:xfrm>
              <a:off x="1171407" y="1846839"/>
              <a:ext cx="1683300" cy="1065553"/>
              <a:chOff x="1723662" y="2163303"/>
              <a:chExt cx="1683300" cy="1065553"/>
            </a:xfrm>
          </p:grpSpPr>
          <p:sp>
            <p:nvSpPr>
              <p:cNvPr id="68" name="Google Shape;68;p13"/>
              <p:cNvSpPr/>
              <p:nvPr/>
            </p:nvSpPr>
            <p:spPr>
              <a:xfrm>
                <a:off x="1723662" y="2795656"/>
                <a:ext cx="1683300" cy="4332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B4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Calc / Submit Offer/ Sign Contract (from Agent)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1740426" y="2163303"/>
                <a:ext cx="1641300" cy="2553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A1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Buyer Overview &amp; PAL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1740420" y="2453753"/>
                <a:ext cx="1641300" cy="3534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A2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Offer Support/ Review/CMA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71" name="Google Shape;71;p13"/>
            <p:cNvSpPr/>
            <p:nvPr/>
          </p:nvSpPr>
          <p:spPr>
            <a:xfrm>
              <a:off x="1188169" y="1435415"/>
              <a:ext cx="1641300" cy="379200"/>
            </a:xfrm>
            <a:prstGeom prst="rect">
              <a:avLst/>
            </a:prstGeom>
            <a:solidFill>
              <a:srgbClr val="7F6000"/>
            </a:solidFill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L1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Doc Review &amp; Upload Pre Approval Letter (PAL)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72" name="Google Shape;72;p13"/>
          <p:cNvGrpSpPr/>
          <p:nvPr/>
        </p:nvGrpSpPr>
        <p:grpSpPr>
          <a:xfrm>
            <a:off x="2805488" y="610450"/>
            <a:ext cx="1766100" cy="1617479"/>
            <a:chOff x="2805875" y="2006550"/>
            <a:chExt cx="1766100" cy="1617479"/>
          </a:xfrm>
        </p:grpSpPr>
        <p:sp>
          <p:nvSpPr>
            <p:cNvPr id="73" name="Google Shape;73;p13"/>
            <p:cNvSpPr/>
            <p:nvPr/>
          </p:nvSpPr>
          <p:spPr>
            <a:xfrm>
              <a:off x="2829475" y="2006550"/>
              <a:ext cx="1700700" cy="362400"/>
            </a:xfrm>
            <a:prstGeom prst="rect">
              <a:avLst/>
            </a:prstGeom>
            <a:solidFill>
              <a:srgbClr val="660000"/>
            </a:solidFill>
            <a:ln cap="flat" cmpd="sng" w="2857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A3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Docusign</a:t>
              </a: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Upload / Recommend Inspector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829475" y="2403625"/>
              <a:ext cx="1700700" cy="2658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E2 (B. Attorney/Title Co.)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Contract/Title Review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829475" y="2695400"/>
              <a:ext cx="1700700" cy="275100"/>
            </a:xfrm>
            <a:prstGeom prst="rect">
              <a:avLst/>
            </a:prstGeom>
            <a:solidFill>
              <a:srgbClr val="7F6000"/>
            </a:solidFill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L2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Deliver Term Sheet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2805875" y="2979200"/>
              <a:ext cx="1766100" cy="3720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B5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Offer Accepted! Sign Term Sheet (Rate Lock) + Schedule Inspection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2829475" y="3366929"/>
              <a:ext cx="1700700" cy="257100"/>
            </a:xfrm>
            <a:prstGeom prst="rect">
              <a:avLst/>
            </a:prstGeom>
            <a:solidFill>
              <a:srgbClr val="660000"/>
            </a:solidFill>
            <a:ln cap="flat" cmpd="sng" w="2857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A4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Inspection Coordination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sp>
        <p:nvSpPr>
          <p:cNvPr id="78" name="Google Shape;78;p13"/>
          <p:cNvSpPr/>
          <p:nvPr/>
        </p:nvSpPr>
        <p:spPr>
          <a:xfrm>
            <a:off x="4684625" y="601425"/>
            <a:ext cx="15819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Inspection Results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4640954" y="922025"/>
            <a:ext cx="1641300" cy="3792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B6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Inspection Results -&gt; Seller Credit? + Appraisal Preferences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4684626" y="1330775"/>
            <a:ext cx="1581900" cy="3774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A5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Seller Credit Req / Addendum Uploaded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4690450" y="1732025"/>
            <a:ext cx="1581900" cy="3087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E4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Closing Credit Resolved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4700350" y="2565350"/>
            <a:ext cx="1581900" cy="257100"/>
          </a:xfrm>
          <a:prstGeom prst="rect">
            <a:avLst/>
          </a:prstGeom>
          <a:solidFill>
            <a:srgbClr val="7F6000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Appraisal Ordered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4700350" y="2848250"/>
            <a:ext cx="1581900" cy="3087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E5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Appraisal  Results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700350" y="3178725"/>
            <a:ext cx="1581900" cy="308700"/>
          </a:xfrm>
          <a:prstGeom prst="rect">
            <a:avLst/>
          </a:prstGeom>
          <a:solidFill>
            <a:srgbClr val="7F6000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L4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Appraisal Review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690450" y="2284301"/>
            <a:ext cx="1581900" cy="2571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A6 (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1/2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Pre-closing Support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922553" y="597055"/>
            <a:ext cx="1359900" cy="3021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A7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Closing Summary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914367" y="921467"/>
            <a:ext cx="1392000" cy="25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B8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Walk Thru &amp; Notary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922550" y="1200900"/>
            <a:ext cx="13599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E6 (Notary)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922550" y="1525325"/>
            <a:ext cx="1392000" cy="302100"/>
          </a:xfrm>
          <a:prstGeom prst="rect">
            <a:avLst/>
          </a:prstGeom>
          <a:solidFill>
            <a:srgbClr val="7F6000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L6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Approve Loan Funding</a:t>
            </a:r>
            <a:endParaRPr sz="800">
              <a:solidFill>
                <a:srgbClr val="FFFFFF"/>
              </a:solidFill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6385090" y="601615"/>
            <a:ext cx="1508216" cy="1088445"/>
            <a:chOff x="6432278" y="593750"/>
            <a:chExt cx="1508216" cy="1088445"/>
          </a:xfrm>
        </p:grpSpPr>
        <p:sp>
          <p:nvSpPr>
            <p:cNvPr id="91" name="Google Shape;91;p13"/>
            <p:cNvSpPr/>
            <p:nvPr/>
          </p:nvSpPr>
          <p:spPr>
            <a:xfrm>
              <a:off x="6432278" y="922926"/>
              <a:ext cx="1506000" cy="3774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B7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Homeowners Insurance+Preferences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434494" y="1303895"/>
              <a:ext cx="1506000" cy="378300"/>
            </a:xfrm>
            <a:prstGeom prst="rect">
              <a:avLst/>
            </a:prstGeom>
            <a:solidFill>
              <a:srgbClr val="7F6000"/>
            </a:solidFill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L5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Final Underwriting Check &amp; C2C Summary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456397" y="593750"/>
              <a:ext cx="1443900" cy="308700"/>
            </a:xfrm>
            <a:prstGeom prst="rect">
              <a:avLst/>
            </a:prstGeom>
            <a:solidFill>
              <a:srgbClr val="660000"/>
            </a:solidFill>
            <a:ln cap="flat" cmpd="sng" w="2857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A6 (2/2)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Pre-closing Support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sp>
        <p:nvSpPr>
          <p:cNvPr id="94" name="Google Shape;94;p13"/>
          <p:cNvSpPr/>
          <p:nvPr/>
        </p:nvSpPr>
        <p:spPr>
          <a:xfrm>
            <a:off x="7937575" y="1822750"/>
            <a:ext cx="1392000" cy="1923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DEAL CLOSED!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929345" y="2032854"/>
            <a:ext cx="1438500" cy="168600"/>
          </a:xfrm>
          <a:prstGeom prst="rect">
            <a:avLst/>
          </a:prstGeom>
          <a:solidFill>
            <a:srgbClr val="7F6000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CLOSED!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904108" y="2223005"/>
            <a:ext cx="1443900" cy="1923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CONGRATS! CLOSED!</a:t>
            </a:r>
            <a:endParaRPr sz="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4"/>
          <p:cNvCxnSpPr>
            <a:stCxn id="102" idx="0"/>
            <a:endCxn id="103" idx="2"/>
          </p:cNvCxnSpPr>
          <p:nvPr/>
        </p:nvCxnSpPr>
        <p:spPr>
          <a:xfrm rot="-5400000">
            <a:off x="1040970" y="502848"/>
            <a:ext cx="166500" cy="4800"/>
          </a:xfrm>
          <a:prstGeom prst="bentConnector3">
            <a:avLst>
              <a:gd fmla="val 50042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104" name="Google Shape;104;p14"/>
          <p:cNvSpPr txBox="1"/>
          <p:nvPr/>
        </p:nvSpPr>
        <p:spPr>
          <a:xfrm>
            <a:off x="37875" y="-17379"/>
            <a:ext cx="2368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134F5C"/>
                </a:solidFill>
              </a:rPr>
              <a:t>BUYER (initiator)</a:t>
            </a:r>
            <a:endParaRPr b="1" sz="1000" u="sng">
              <a:solidFill>
                <a:srgbClr val="134F5C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2115463" y="585050"/>
            <a:ext cx="26142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7F6000"/>
                </a:solidFill>
              </a:rPr>
              <a:t>LENDER (gatekeeper)</a:t>
            </a:r>
            <a:endParaRPr b="1" sz="1000" u="sng">
              <a:solidFill>
                <a:srgbClr val="7F6000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619403" y="630625"/>
            <a:ext cx="18981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990000"/>
                </a:solidFill>
              </a:rPr>
              <a:t>AGENT </a:t>
            </a:r>
            <a:r>
              <a:rPr b="1" lang="en" sz="1000" u="sng">
                <a:solidFill>
                  <a:srgbClr val="990000"/>
                </a:solidFill>
              </a:rPr>
              <a:t>(collaborator)</a:t>
            </a:r>
            <a:endParaRPr b="1" sz="1000" u="sng">
              <a:solidFill>
                <a:srgbClr val="990000"/>
              </a:solidFill>
            </a:endParaRPr>
          </a:p>
        </p:txBody>
      </p:sp>
      <p:cxnSp>
        <p:nvCxnSpPr>
          <p:cNvPr id="107" name="Google Shape;107;p14"/>
          <p:cNvCxnSpPr>
            <a:stCxn id="108" idx="1"/>
            <a:endCxn id="109" idx="3"/>
          </p:cNvCxnSpPr>
          <p:nvPr/>
        </p:nvCxnSpPr>
        <p:spPr>
          <a:xfrm flipH="1">
            <a:off x="1964334" y="1081586"/>
            <a:ext cx="762900" cy="68700"/>
          </a:xfrm>
          <a:prstGeom prst="bentConnector3">
            <a:avLst>
              <a:gd fmla="val 49994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110" name="Google Shape;110;p14"/>
          <p:cNvCxnSpPr>
            <a:stCxn id="111" idx="1"/>
            <a:endCxn id="108" idx="3"/>
          </p:cNvCxnSpPr>
          <p:nvPr/>
        </p:nvCxnSpPr>
        <p:spPr>
          <a:xfrm flipH="1">
            <a:off x="4233021" y="1065824"/>
            <a:ext cx="654000" cy="15900"/>
          </a:xfrm>
          <a:prstGeom prst="bentConnector3">
            <a:avLst>
              <a:gd fmla="val 49989" name="adj1"/>
            </a:avLst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112" name="Google Shape;112;p14"/>
          <p:cNvCxnSpPr>
            <a:stCxn id="113" idx="1"/>
            <a:endCxn id="114" idx="2"/>
          </p:cNvCxnSpPr>
          <p:nvPr/>
        </p:nvCxnSpPr>
        <p:spPr>
          <a:xfrm rot="10800000">
            <a:off x="1110332" y="3167849"/>
            <a:ext cx="1646700" cy="3945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5" name="Google Shape;115;p14"/>
          <p:cNvCxnSpPr>
            <a:stCxn id="116" idx="1"/>
            <a:endCxn id="117" idx="3"/>
          </p:cNvCxnSpPr>
          <p:nvPr/>
        </p:nvCxnSpPr>
        <p:spPr>
          <a:xfrm flipH="1">
            <a:off x="1958125" y="1866275"/>
            <a:ext cx="2928900" cy="357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18" name="Google Shape;118;p14"/>
          <p:cNvCxnSpPr>
            <a:stCxn id="108" idx="1"/>
            <a:endCxn id="117" idx="0"/>
          </p:cNvCxnSpPr>
          <p:nvPr/>
        </p:nvCxnSpPr>
        <p:spPr>
          <a:xfrm flipH="1">
            <a:off x="1121934" y="1081586"/>
            <a:ext cx="1605300" cy="6315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9" name="Google Shape;119;p14"/>
          <p:cNvCxnSpPr>
            <a:stCxn id="113" idx="3"/>
            <a:endCxn id="120" idx="1"/>
          </p:cNvCxnSpPr>
          <p:nvPr/>
        </p:nvCxnSpPr>
        <p:spPr>
          <a:xfrm>
            <a:off x="4262967" y="3562349"/>
            <a:ext cx="618900" cy="366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dash"/>
            <a:round/>
            <a:headEnd len="sm" w="sm" type="none"/>
            <a:tailEnd len="sm" w="sm" type="stealth"/>
          </a:ln>
        </p:spPr>
      </p:cxnSp>
      <p:cxnSp>
        <p:nvCxnSpPr>
          <p:cNvPr id="121" name="Google Shape;121;p14"/>
          <p:cNvCxnSpPr>
            <a:stCxn id="122" idx="3"/>
            <a:endCxn id="123" idx="1"/>
          </p:cNvCxnSpPr>
          <p:nvPr/>
        </p:nvCxnSpPr>
        <p:spPr>
          <a:xfrm>
            <a:off x="1946721" y="3918094"/>
            <a:ext cx="814200" cy="912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24" name="Google Shape;124;p14"/>
          <p:cNvCxnSpPr/>
          <p:nvPr/>
        </p:nvCxnSpPr>
        <p:spPr>
          <a:xfrm flipH="1">
            <a:off x="1128013" y="4084250"/>
            <a:ext cx="1627200" cy="3624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125" name="Google Shape;125;p14"/>
          <p:cNvGrpSpPr/>
          <p:nvPr/>
        </p:nvGrpSpPr>
        <p:grpSpPr>
          <a:xfrm>
            <a:off x="4881849" y="928274"/>
            <a:ext cx="1443746" cy="4122598"/>
            <a:chOff x="6745508" y="1164211"/>
            <a:chExt cx="1264668" cy="4122598"/>
          </a:xfrm>
        </p:grpSpPr>
        <p:grpSp>
          <p:nvGrpSpPr>
            <p:cNvPr id="126" name="Google Shape;126;p14"/>
            <p:cNvGrpSpPr/>
            <p:nvPr/>
          </p:nvGrpSpPr>
          <p:grpSpPr>
            <a:xfrm>
              <a:off x="6745508" y="1164211"/>
              <a:ext cx="1264668" cy="3356445"/>
              <a:chOff x="282561" y="-404262"/>
              <a:chExt cx="1144704" cy="3356445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286661" y="-404262"/>
                <a:ext cx="1140600" cy="2751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A1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Buyer Overview &amp; PAL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286664" y="415389"/>
                <a:ext cx="1140600" cy="2367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A2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Offer Support/Review/CMA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282561" y="2128869"/>
                <a:ext cx="1140600" cy="2751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A6</a:t>
                </a:r>
                <a:endParaRPr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Pre-closing Support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7" name="Google Shape;127;p14"/>
              <p:cNvSpPr/>
              <p:nvPr/>
            </p:nvSpPr>
            <p:spPr>
              <a:xfrm>
                <a:off x="282561" y="2650083"/>
                <a:ext cx="1140600" cy="3021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A7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Closing Summary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8" name="Google Shape;128;p14"/>
            <p:cNvSpPr/>
            <p:nvPr/>
          </p:nvSpPr>
          <p:spPr>
            <a:xfrm>
              <a:off x="6745582" y="5118209"/>
              <a:ext cx="1260000" cy="168600"/>
            </a:xfrm>
            <a:prstGeom prst="rect">
              <a:avLst/>
            </a:prstGeom>
            <a:solidFill>
              <a:srgbClr val="660000"/>
            </a:solidFill>
            <a:ln cap="flat" cmpd="sng" w="2857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DEAL CLOSED!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cxnSp>
        <p:nvCxnSpPr>
          <p:cNvPr id="129" name="Google Shape;129;p14"/>
          <p:cNvCxnSpPr>
            <a:stCxn id="123" idx="3"/>
            <a:endCxn id="120" idx="2"/>
          </p:cNvCxnSpPr>
          <p:nvPr/>
        </p:nvCxnSpPr>
        <p:spPr>
          <a:xfrm flipH="1" rot="10800000">
            <a:off x="4266997" y="3736413"/>
            <a:ext cx="1334100" cy="2730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0" name="Google Shape;130;p14"/>
          <p:cNvCxnSpPr>
            <a:stCxn id="131" idx="3"/>
            <a:endCxn id="132" idx="1"/>
          </p:cNvCxnSpPr>
          <p:nvPr/>
        </p:nvCxnSpPr>
        <p:spPr>
          <a:xfrm>
            <a:off x="1970315" y="4521622"/>
            <a:ext cx="790800" cy="225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3" name="Google Shape;133;p14"/>
          <p:cNvCxnSpPr>
            <a:stCxn id="131" idx="3"/>
            <a:endCxn id="127" idx="1"/>
          </p:cNvCxnSpPr>
          <p:nvPr/>
        </p:nvCxnSpPr>
        <p:spPr>
          <a:xfrm flipH="1" rot="10800000">
            <a:off x="1970315" y="4133722"/>
            <a:ext cx="2911500" cy="3879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4" name="Google Shape;134;p14"/>
          <p:cNvCxnSpPr>
            <a:stCxn id="132" idx="2"/>
            <a:endCxn id="135" idx="0"/>
          </p:cNvCxnSpPr>
          <p:nvPr/>
        </p:nvCxnSpPr>
        <p:spPr>
          <a:xfrm flipH="1">
            <a:off x="1121838" y="4681788"/>
            <a:ext cx="2392200" cy="1920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6" name="Google Shape;136;p14"/>
          <p:cNvCxnSpPr>
            <a:stCxn id="132" idx="2"/>
            <a:endCxn id="137" idx="0"/>
          </p:cNvCxnSpPr>
          <p:nvPr/>
        </p:nvCxnSpPr>
        <p:spPr>
          <a:xfrm>
            <a:off x="3514038" y="4681788"/>
            <a:ext cx="0" cy="2178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8" name="Google Shape;138;p14"/>
          <p:cNvCxnSpPr>
            <a:stCxn id="132" idx="2"/>
            <a:endCxn id="128" idx="1"/>
          </p:cNvCxnSpPr>
          <p:nvPr/>
        </p:nvCxnSpPr>
        <p:spPr>
          <a:xfrm>
            <a:off x="3514038" y="4681788"/>
            <a:ext cx="1368000" cy="2847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139" name="Google Shape;139;p14"/>
          <p:cNvGrpSpPr/>
          <p:nvPr/>
        </p:nvGrpSpPr>
        <p:grpSpPr>
          <a:xfrm>
            <a:off x="274031" y="164757"/>
            <a:ext cx="1696284" cy="4912608"/>
            <a:chOff x="274031" y="186247"/>
            <a:chExt cx="1696284" cy="4912608"/>
          </a:xfrm>
        </p:grpSpPr>
        <p:grpSp>
          <p:nvGrpSpPr>
            <p:cNvPr id="140" name="Google Shape;140;p14"/>
            <p:cNvGrpSpPr/>
            <p:nvPr/>
          </p:nvGrpSpPr>
          <p:grpSpPr>
            <a:xfrm>
              <a:off x="274031" y="186247"/>
              <a:ext cx="1696284" cy="4506565"/>
              <a:chOff x="276744" y="186247"/>
              <a:chExt cx="1156689" cy="4506565"/>
            </a:xfrm>
          </p:grpSpPr>
          <p:sp>
            <p:nvSpPr>
              <p:cNvPr id="103" name="Google Shape;103;p14"/>
              <p:cNvSpPr/>
              <p:nvPr/>
            </p:nvSpPr>
            <p:spPr>
              <a:xfrm>
                <a:off x="287803" y="186247"/>
                <a:ext cx="1140600" cy="2571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B1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Add Property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284547" y="609988"/>
                <a:ext cx="1140600" cy="2571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B2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Confirm Team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>
                <a:off x="284547" y="1734663"/>
                <a:ext cx="1140600" cy="3774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B4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Calc / Determine </a:t>
                </a: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Offer &amp; Submit / Sign Docusign (from Agent)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276744" y="2810244"/>
                <a:ext cx="1140600" cy="3792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B6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Inspection Results -&gt; Seller Credit? + Appraisal Preferences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276744" y="3750884"/>
                <a:ext cx="1140600" cy="3774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B7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Homeowners</a:t>
                </a: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 Insurance+</a:t>
                </a: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Preferences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292832" y="4393411"/>
                <a:ext cx="1140600" cy="2994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B8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Walk Thru &amp; Notary - Final Prep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35" name="Google Shape;135;p14"/>
            <p:cNvSpPr/>
            <p:nvPr/>
          </p:nvSpPr>
          <p:spPr>
            <a:xfrm>
              <a:off x="285425" y="4895154"/>
              <a:ext cx="1672800" cy="2037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CONGRATS! CLOSED!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sp>
        <p:nvSpPr>
          <p:cNvPr id="141" name="Google Shape;141;p14"/>
          <p:cNvSpPr/>
          <p:nvPr/>
        </p:nvSpPr>
        <p:spPr>
          <a:xfrm>
            <a:off x="168825" y="150050"/>
            <a:ext cx="285900" cy="28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172575" y="485975"/>
            <a:ext cx="285900" cy="28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143" name="Google Shape;143;p14"/>
          <p:cNvSpPr txBox="1"/>
          <p:nvPr/>
        </p:nvSpPr>
        <p:spPr>
          <a:xfrm rot="-178314">
            <a:off x="2388923" y="2160314"/>
            <a:ext cx="1834267" cy="167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990000"/>
                </a:solidFill>
              </a:rPr>
              <a:t>*Offer Accepted Trigger!</a:t>
            </a:r>
            <a:endParaRPr b="1" i="1" sz="1000">
              <a:solidFill>
                <a:srgbClr val="990000"/>
              </a:solidFill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291625" y="1021742"/>
            <a:ext cx="1672800" cy="25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Financing Readiness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144" name="Google Shape;144;p14"/>
          <p:cNvCxnSpPr>
            <a:stCxn id="109" idx="0"/>
            <a:endCxn id="102" idx="2"/>
          </p:cNvCxnSpPr>
          <p:nvPr/>
        </p:nvCxnSpPr>
        <p:spPr>
          <a:xfrm flipH="1" rot="5400000">
            <a:off x="1036825" y="930542"/>
            <a:ext cx="176100" cy="6300"/>
          </a:xfrm>
          <a:prstGeom prst="bentConnector3">
            <a:avLst>
              <a:gd fmla="val 50013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145" name="Google Shape;145;p14"/>
          <p:cNvSpPr/>
          <p:nvPr/>
        </p:nvSpPr>
        <p:spPr>
          <a:xfrm>
            <a:off x="172575" y="945835"/>
            <a:ext cx="285900" cy="28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3</a:t>
            </a:r>
            <a:endParaRPr b="1" sz="800">
              <a:solidFill>
                <a:srgbClr val="073763"/>
              </a:solidFill>
            </a:endParaRPr>
          </a:p>
        </p:txBody>
      </p:sp>
      <p:cxnSp>
        <p:nvCxnSpPr>
          <p:cNvPr id="146" name="Google Shape;146;p14"/>
          <p:cNvCxnSpPr>
            <a:stCxn id="147" idx="2"/>
            <a:endCxn id="148" idx="0"/>
          </p:cNvCxnSpPr>
          <p:nvPr/>
        </p:nvCxnSpPr>
        <p:spPr>
          <a:xfrm flipH="1">
            <a:off x="1105968" y="1625579"/>
            <a:ext cx="2374200" cy="5883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48" name="Google Shape;148;p14"/>
          <p:cNvSpPr/>
          <p:nvPr/>
        </p:nvSpPr>
        <p:spPr>
          <a:xfrm>
            <a:off x="235950" y="2213975"/>
            <a:ext cx="1740000" cy="3720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B5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Offer Accepted! Sign Term Sheet (Rate Lock) + Schedule Inspection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4619400" y="1902546"/>
            <a:ext cx="2625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6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1115725" y="3368486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23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3000650" y="-9300"/>
            <a:ext cx="60942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rgbClr val="073763"/>
                </a:solidFill>
              </a:rPr>
              <a:t>MVP Workflow (NEW)</a:t>
            </a:r>
            <a:endParaRPr b="1" sz="1300" u="sng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73763"/>
                </a:solidFill>
              </a:rPr>
              <a:t>Buyer Definition: A serious home-buyer who has identified a property, plans to purchase within 2–3 months, and wants a clearer path from financing to closing — with or without a lender already selected.</a:t>
            </a:r>
            <a:endParaRPr b="1" sz="900">
              <a:solidFill>
                <a:srgbClr val="073763"/>
              </a:solidFill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6974278" y="1231175"/>
            <a:ext cx="18981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666666"/>
                </a:solidFill>
              </a:rPr>
              <a:t>EXTERNAL Party (securelink)</a:t>
            </a:r>
            <a:endParaRPr b="1" sz="1000" u="sng">
              <a:solidFill>
                <a:srgbClr val="666666"/>
              </a:solidFill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1654050" y="4841700"/>
            <a:ext cx="533400" cy="16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28</a:t>
            </a:r>
            <a:r>
              <a:rPr b="1" lang="en" sz="800">
                <a:solidFill>
                  <a:srgbClr val="7F6000"/>
                </a:solidFill>
              </a:rPr>
              <a:t>a</a:t>
            </a:r>
            <a:endParaRPr b="1" sz="800">
              <a:solidFill>
                <a:srgbClr val="7F6000"/>
              </a:solidFill>
            </a:endParaRPr>
          </a:p>
        </p:txBody>
      </p:sp>
      <p:cxnSp>
        <p:nvCxnSpPr>
          <p:cNvPr id="154" name="Google Shape;154;p14"/>
          <p:cNvCxnSpPr>
            <a:stCxn id="117" idx="0"/>
            <a:endCxn id="116" idx="0"/>
          </p:cNvCxnSpPr>
          <p:nvPr/>
        </p:nvCxnSpPr>
        <p:spPr>
          <a:xfrm>
            <a:off x="1121820" y="1713173"/>
            <a:ext cx="4484400" cy="348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55" name="Google Shape;155;p14"/>
          <p:cNvCxnSpPr>
            <a:stCxn id="117" idx="0"/>
            <a:endCxn id="147" idx="1"/>
          </p:cNvCxnSpPr>
          <p:nvPr/>
        </p:nvCxnSpPr>
        <p:spPr>
          <a:xfrm flipH="1" rot="10800000">
            <a:off x="1121820" y="1488173"/>
            <a:ext cx="1605300" cy="2250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dash"/>
            <a:round/>
            <a:headEnd len="sm" w="sm" type="none"/>
            <a:tailEnd len="sm" w="sm" type="triangle"/>
          </a:ln>
        </p:spPr>
      </p:cxnSp>
      <p:sp>
        <p:nvSpPr>
          <p:cNvPr id="156" name="Google Shape;156;p14"/>
          <p:cNvSpPr/>
          <p:nvPr/>
        </p:nvSpPr>
        <p:spPr>
          <a:xfrm>
            <a:off x="1492250" y="1518150"/>
            <a:ext cx="4839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7b</a:t>
            </a:r>
            <a:endParaRPr b="1" sz="800">
              <a:solidFill>
                <a:srgbClr val="073763"/>
              </a:solidFill>
            </a:endParaRPr>
          </a:p>
        </p:txBody>
      </p:sp>
      <p:grpSp>
        <p:nvGrpSpPr>
          <p:cNvPr id="157" name="Google Shape;157;p14"/>
          <p:cNvGrpSpPr/>
          <p:nvPr/>
        </p:nvGrpSpPr>
        <p:grpSpPr>
          <a:xfrm>
            <a:off x="7174521" y="1573884"/>
            <a:ext cx="1513125" cy="2435224"/>
            <a:chOff x="235720" y="477238"/>
            <a:chExt cx="1199750" cy="2435224"/>
          </a:xfrm>
        </p:grpSpPr>
        <p:sp>
          <p:nvSpPr>
            <p:cNvPr id="158" name="Google Shape;158;p14"/>
            <p:cNvSpPr/>
            <p:nvPr/>
          </p:nvSpPr>
          <p:spPr>
            <a:xfrm>
              <a:off x="259135" y="477238"/>
              <a:ext cx="1140600" cy="3021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E1 (Seller)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Offer Received &amp; Accepted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94871" y="957938"/>
              <a:ext cx="1140600" cy="2859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E2 (B. Attorney/Title Co.)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Contract/Title Review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57403" y="1414006"/>
              <a:ext cx="1140600" cy="3021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E3 (Seller + Inspector)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Inspection Results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35720" y="2610361"/>
              <a:ext cx="1140600" cy="3021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E5 (Appraiser)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Appraisal  Results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sp>
        <p:nvSpPr>
          <p:cNvPr id="162" name="Google Shape;162;p14"/>
          <p:cNvSpPr/>
          <p:nvPr/>
        </p:nvSpPr>
        <p:spPr>
          <a:xfrm>
            <a:off x="1592025" y="1700425"/>
            <a:ext cx="4839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7a</a:t>
            </a:r>
            <a:endParaRPr b="1" sz="800">
              <a:solidFill>
                <a:srgbClr val="073763"/>
              </a:solidFill>
            </a:endParaRPr>
          </a:p>
        </p:txBody>
      </p:sp>
      <p:cxnSp>
        <p:nvCxnSpPr>
          <p:cNvPr id="163" name="Google Shape;163;p14"/>
          <p:cNvCxnSpPr>
            <a:stCxn id="111" idx="2"/>
            <a:endCxn id="116" idx="0"/>
          </p:cNvCxnSpPr>
          <p:nvPr/>
        </p:nvCxnSpPr>
        <p:spPr>
          <a:xfrm>
            <a:off x="5606306" y="1203374"/>
            <a:ext cx="0" cy="5445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64" name="Google Shape;164;p14"/>
          <p:cNvSpPr/>
          <p:nvPr/>
        </p:nvSpPr>
        <p:spPr>
          <a:xfrm>
            <a:off x="5343800" y="1191738"/>
            <a:ext cx="262500" cy="20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5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165" name="Google Shape;165;p14"/>
          <p:cNvCxnSpPr>
            <a:stCxn id="116" idx="3"/>
            <a:endCxn id="158" idx="1"/>
          </p:cNvCxnSpPr>
          <p:nvPr/>
        </p:nvCxnSpPr>
        <p:spPr>
          <a:xfrm flipH="1" rot="10800000">
            <a:off x="6325595" y="1724975"/>
            <a:ext cx="878400" cy="1413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66" name="Google Shape;166;p14"/>
          <p:cNvSpPr/>
          <p:nvPr/>
        </p:nvSpPr>
        <p:spPr>
          <a:xfrm>
            <a:off x="4881650" y="2101625"/>
            <a:ext cx="1438500" cy="3624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Docusign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Upload / Recommend Inspector</a:t>
            </a:r>
            <a:endParaRPr sz="800">
              <a:solidFill>
                <a:srgbClr val="FFFFFF"/>
              </a:solidFill>
            </a:endParaRPr>
          </a:p>
        </p:txBody>
      </p:sp>
      <p:grpSp>
        <p:nvGrpSpPr>
          <p:cNvPr id="167" name="Google Shape;167;p14"/>
          <p:cNvGrpSpPr/>
          <p:nvPr/>
        </p:nvGrpSpPr>
        <p:grpSpPr>
          <a:xfrm>
            <a:off x="2345625" y="892436"/>
            <a:ext cx="2178075" cy="4210770"/>
            <a:chOff x="3099741" y="1122010"/>
            <a:chExt cx="2178075" cy="4210770"/>
          </a:xfrm>
        </p:grpSpPr>
        <p:grpSp>
          <p:nvGrpSpPr>
            <p:cNvPr id="168" name="Google Shape;168;p14"/>
            <p:cNvGrpSpPr/>
            <p:nvPr/>
          </p:nvGrpSpPr>
          <p:grpSpPr>
            <a:xfrm>
              <a:off x="3481350" y="1122010"/>
              <a:ext cx="1539800" cy="4210770"/>
              <a:chOff x="3481350" y="1122010"/>
              <a:chExt cx="1539800" cy="4210770"/>
            </a:xfrm>
          </p:grpSpPr>
          <p:grpSp>
            <p:nvGrpSpPr>
              <p:cNvPr id="169" name="Google Shape;169;p14"/>
              <p:cNvGrpSpPr/>
              <p:nvPr/>
            </p:nvGrpSpPr>
            <p:grpSpPr>
              <a:xfrm>
                <a:off x="3481350" y="1122010"/>
                <a:ext cx="1539763" cy="3306126"/>
                <a:chOff x="257866" y="-425272"/>
                <a:chExt cx="1166222" cy="3306126"/>
              </a:xfrm>
            </p:grpSpPr>
            <p:sp>
              <p:nvSpPr>
                <p:cNvPr id="108" name="Google Shape;108;p14"/>
                <p:cNvSpPr/>
                <p:nvPr/>
              </p:nvSpPr>
              <p:spPr>
                <a:xfrm>
                  <a:off x="257866" y="-425272"/>
                  <a:ext cx="1140600" cy="378300"/>
                </a:xfrm>
                <a:prstGeom prst="rect">
                  <a:avLst/>
                </a:prstGeom>
                <a:solidFill>
                  <a:srgbClr val="7F6000"/>
                </a:solidFill>
                <a:ln cap="flat" cmpd="sng" w="28575">
                  <a:solidFill>
                    <a:srgbClr val="BF9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L1</a:t>
                  </a:r>
                  <a:b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Doc Review &amp; Upload Pre Approval Letter (PAL)</a:t>
                  </a:r>
                  <a:endParaRPr sz="8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3" name="Google Shape;113;p14"/>
                <p:cNvSpPr/>
                <p:nvPr/>
              </p:nvSpPr>
              <p:spPr>
                <a:xfrm>
                  <a:off x="280436" y="2090290"/>
                  <a:ext cx="1140600" cy="308700"/>
                </a:xfrm>
                <a:prstGeom prst="rect">
                  <a:avLst/>
                </a:prstGeom>
                <a:solidFill>
                  <a:srgbClr val="7F6000"/>
                </a:solidFill>
                <a:ln cap="flat" cmpd="sng" w="28575">
                  <a:solidFill>
                    <a:srgbClr val="BF9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L4</a:t>
                  </a:r>
                  <a:b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Appraisal Review &amp; Approve</a:t>
                  </a:r>
                  <a:endParaRPr sz="8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23" name="Google Shape;123;p14"/>
                <p:cNvSpPr/>
                <p:nvPr/>
              </p:nvSpPr>
              <p:spPr>
                <a:xfrm>
                  <a:off x="283488" y="2502554"/>
                  <a:ext cx="1140600" cy="378300"/>
                </a:xfrm>
                <a:prstGeom prst="rect">
                  <a:avLst/>
                </a:prstGeom>
                <a:solidFill>
                  <a:srgbClr val="7F6000"/>
                </a:solidFill>
                <a:ln cap="flat" cmpd="sng" w="28575">
                  <a:solidFill>
                    <a:srgbClr val="BF9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L5</a:t>
                  </a:r>
                  <a:b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Final Underwriting Check &amp; C2C Summary</a:t>
                  </a:r>
                  <a:endParaRPr sz="80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37" name="Google Shape;137;p14"/>
              <p:cNvSpPr/>
              <p:nvPr/>
            </p:nvSpPr>
            <p:spPr>
              <a:xfrm>
                <a:off x="3515150" y="5129080"/>
                <a:ext cx="1506000" cy="203700"/>
              </a:xfrm>
              <a:prstGeom prst="rect">
                <a:avLst/>
              </a:prstGeom>
              <a:solidFill>
                <a:srgbClr val="7F6000"/>
              </a:solidFill>
              <a:ln cap="flat" cmpd="sng" w="28575">
                <a:solidFill>
                  <a:srgbClr val="BF9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CLOSED!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32" name="Google Shape;132;p14"/>
            <p:cNvSpPr/>
            <p:nvPr/>
          </p:nvSpPr>
          <p:spPr>
            <a:xfrm>
              <a:off x="3515153" y="4636261"/>
              <a:ext cx="1506000" cy="275100"/>
            </a:xfrm>
            <a:prstGeom prst="rect">
              <a:avLst/>
            </a:prstGeom>
            <a:solidFill>
              <a:srgbClr val="7F6000"/>
            </a:solidFill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L6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Approve Loan Funding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4841016" y="1295387"/>
              <a:ext cx="436800" cy="16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F6000"/>
                  </a:solidFill>
                </a:rPr>
                <a:t>4b</a:t>
              </a:r>
              <a:endParaRPr b="1" sz="800">
                <a:solidFill>
                  <a:srgbClr val="7F6000"/>
                </a:solidFill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099741" y="3578696"/>
              <a:ext cx="533400" cy="173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F6000"/>
                  </a:solidFill>
                </a:rPr>
                <a:t>22</a:t>
              </a:r>
              <a:r>
                <a:rPr b="1" lang="en" sz="800">
                  <a:solidFill>
                    <a:srgbClr val="7F6000"/>
                  </a:solidFill>
                </a:rPr>
                <a:t>a</a:t>
              </a:r>
              <a:endParaRPr b="1" sz="800">
                <a:solidFill>
                  <a:srgbClr val="7F6000"/>
                </a:solidFill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3481284" y="1580053"/>
              <a:ext cx="1506000" cy="275100"/>
            </a:xfrm>
            <a:prstGeom prst="rect">
              <a:avLst/>
            </a:prstGeom>
            <a:solidFill>
              <a:srgbClr val="7F6000"/>
            </a:solidFill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L2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Deliver Term Sheet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3205878" y="1362786"/>
              <a:ext cx="436800" cy="16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F6000"/>
                  </a:solidFill>
                </a:rPr>
                <a:t>4a</a:t>
              </a:r>
              <a:endParaRPr b="1" sz="800">
                <a:solidFill>
                  <a:srgbClr val="7F6000"/>
                </a:solidFill>
              </a:endParaRPr>
            </a:p>
          </p:txBody>
        </p:sp>
      </p:grpSp>
      <p:sp>
        <p:nvSpPr>
          <p:cNvPr id="173" name="Google Shape;173;p14"/>
          <p:cNvSpPr/>
          <p:nvPr/>
        </p:nvSpPr>
        <p:spPr>
          <a:xfrm>
            <a:off x="6325800" y="1672050"/>
            <a:ext cx="2625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8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174" name="Google Shape;174;p14"/>
          <p:cNvCxnSpPr/>
          <p:nvPr/>
        </p:nvCxnSpPr>
        <p:spPr>
          <a:xfrm flipH="1">
            <a:off x="1973188" y="2278725"/>
            <a:ext cx="2905800" cy="1173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75" name="Google Shape;175;p14"/>
          <p:cNvCxnSpPr>
            <a:stCxn id="166" idx="1"/>
            <a:endCxn id="147" idx="2"/>
          </p:cNvCxnSpPr>
          <p:nvPr/>
        </p:nvCxnSpPr>
        <p:spPr>
          <a:xfrm rot="10800000">
            <a:off x="3480050" y="1625525"/>
            <a:ext cx="1401600" cy="6573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76" name="Google Shape;176;p14"/>
          <p:cNvSpPr/>
          <p:nvPr/>
        </p:nvSpPr>
        <p:spPr>
          <a:xfrm>
            <a:off x="4228525" y="2065038"/>
            <a:ext cx="5334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10b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4348650" y="2303376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10c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2805787" y="1597875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11</a:t>
            </a:r>
            <a:endParaRPr b="1" sz="800">
              <a:solidFill>
                <a:srgbClr val="7F6000"/>
              </a:solidFill>
            </a:endParaRPr>
          </a:p>
        </p:txBody>
      </p:sp>
      <p:cxnSp>
        <p:nvCxnSpPr>
          <p:cNvPr id="179" name="Google Shape;179;p14"/>
          <p:cNvCxnSpPr>
            <a:stCxn id="166" idx="3"/>
            <a:endCxn id="159" idx="1"/>
          </p:cNvCxnSpPr>
          <p:nvPr/>
        </p:nvCxnSpPr>
        <p:spPr>
          <a:xfrm flipH="1" rot="10800000">
            <a:off x="6320150" y="2197625"/>
            <a:ext cx="929100" cy="852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80" name="Google Shape;180;p14"/>
          <p:cNvSpPr/>
          <p:nvPr/>
        </p:nvSpPr>
        <p:spPr>
          <a:xfrm>
            <a:off x="6190350" y="2251763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10a</a:t>
            </a:r>
            <a:endParaRPr b="1" sz="800">
              <a:solidFill>
                <a:srgbClr val="990000"/>
              </a:solidFill>
            </a:endParaRPr>
          </a:p>
        </p:txBody>
      </p:sp>
      <p:pic>
        <p:nvPicPr>
          <p:cNvPr id="181" name="Google Shape;1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9350" y="1799472"/>
            <a:ext cx="808164" cy="37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14"/>
          <p:cNvGrpSpPr/>
          <p:nvPr/>
        </p:nvGrpSpPr>
        <p:grpSpPr>
          <a:xfrm>
            <a:off x="6779158" y="2275148"/>
            <a:ext cx="477900" cy="257123"/>
            <a:chOff x="6755721" y="2731418"/>
            <a:chExt cx="477900" cy="257123"/>
          </a:xfrm>
        </p:grpSpPr>
        <p:cxnSp>
          <p:nvCxnSpPr>
            <p:cNvPr id="183" name="Google Shape;183;p14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184" name="Google Shape;184;p14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185" name="Google Shape;185;p14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cxnSp>
        <p:nvCxnSpPr>
          <p:cNvPr id="186" name="Google Shape;186;p14"/>
          <p:cNvCxnSpPr>
            <a:stCxn id="158" idx="1"/>
            <a:endCxn id="166" idx="3"/>
          </p:cNvCxnSpPr>
          <p:nvPr/>
        </p:nvCxnSpPr>
        <p:spPr>
          <a:xfrm flipH="1">
            <a:off x="6320252" y="1724934"/>
            <a:ext cx="883800" cy="55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187" name="Google Shape;187;p14"/>
          <p:cNvGrpSpPr/>
          <p:nvPr/>
        </p:nvGrpSpPr>
        <p:grpSpPr>
          <a:xfrm>
            <a:off x="6743215" y="2716374"/>
            <a:ext cx="477900" cy="257123"/>
            <a:chOff x="6755721" y="2731418"/>
            <a:chExt cx="477900" cy="257123"/>
          </a:xfrm>
        </p:grpSpPr>
        <p:cxnSp>
          <p:nvCxnSpPr>
            <p:cNvPr id="188" name="Google Shape;188;p14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189" name="Google Shape;189;p14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190" name="Google Shape;190;p14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sp>
        <p:nvSpPr>
          <p:cNvPr id="191" name="Google Shape;191;p14"/>
          <p:cNvSpPr/>
          <p:nvPr/>
        </p:nvSpPr>
        <p:spPr>
          <a:xfrm>
            <a:off x="7249133" y="4332165"/>
            <a:ext cx="14385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E6 (Notary)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2508925" y="4029847"/>
            <a:ext cx="533400" cy="17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25</a:t>
            </a:r>
            <a:r>
              <a:rPr b="1" lang="en" sz="800">
                <a:solidFill>
                  <a:srgbClr val="7F6000"/>
                </a:solidFill>
              </a:rPr>
              <a:t>a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038588" y="3791272"/>
            <a:ext cx="533400" cy="17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25</a:t>
            </a:r>
            <a:r>
              <a:rPr b="1" lang="en" sz="800">
                <a:solidFill>
                  <a:srgbClr val="7F6000"/>
                </a:solidFill>
              </a:rPr>
              <a:t>b</a:t>
            </a:r>
            <a:endParaRPr b="1" sz="800">
              <a:solidFill>
                <a:srgbClr val="7F6000"/>
              </a:solidFill>
            </a:endParaRPr>
          </a:p>
        </p:txBody>
      </p:sp>
      <p:cxnSp>
        <p:nvCxnSpPr>
          <p:cNvPr id="194" name="Google Shape;194;p14"/>
          <p:cNvCxnSpPr>
            <a:stCxn id="122" idx="3"/>
            <a:endCxn id="120" idx="2"/>
          </p:cNvCxnSpPr>
          <p:nvPr/>
        </p:nvCxnSpPr>
        <p:spPr>
          <a:xfrm flipH="1" rot="10800000">
            <a:off x="1946721" y="3736594"/>
            <a:ext cx="3654300" cy="1815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95" name="Google Shape;195;p14"/>
          <p:cNvSpPr/>
          <p:nvPr/>
        </p:nvSpPr>
        <p:spPr>
          <a:xfrm>
            <a:off x="4145113" y="3372222"/>
            <a:ext cx="533400" cy="17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22</a:t>
            </a:r>
            <a:r>
              <a:rPr b="1" lang="en" sz="800">
                <a:solidFill>
                  <a:srgbClr val="7F6000"/>
                </a:solidFill>
              </a:rPr>
              <a:t>b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1671050" y="3960686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24</a:t>
            </a:r>
            <a:r>
              <a:rPr b="1" lang="en" sz="800">
                <a:solidFill>
                  <a:srgbClr val="073763"/>
                </a:solidFill>
              </a:rPr>
              <a:t>b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1654050" y="4337473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27</a:t>
            </a:r>
            <a:r>
              <a:rPr b="1" lang="en" sz="800">
                <a:solidFill>
                  <a:srgbClr val="073763"/>
                </a:solidFill>
              </a:rPr>
              <a:t>a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1768575" y="4535973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27c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-125837" y="4303773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27b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4403400" y="4737250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28c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3523525" y="4789750"/>
            <a:ext cx="533400" cy="16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28b</a:t>
            </a:r>
            <a:endParaRPr b="1" sz="800">
              <a:solidFill>
                <a:srgbClr val="7F6000"/>
              </a:solidFill>
            </a:endParaRPr>
          </a:p>
        </p:txBody>
      </p:sp>
      <p:grpSp>
        <p:nvGrpSpPr>
          <p:cNvPr id="202" name="Google Shape;202;p14"/>
          <p:cNvGrpSpPr/>
          <p:nvPr/>
        </p:nvGrpSpPr>
        <p:grpSpPr>
          <a:xfrm>
            <a:off x="6771021" y="4430223"/>
            <a:ext cx="477900" cy="257123"/>
            <a:chOff x="6755721" y="2731418"/>
            <a:chExt cx="477900" cy="257123"/>
          </a:xfrm>
        </p:grpSpPr>
        <p:cxnSp>
          <p:nvCxnSpPr>
            <p:cNvPr id="203" name="Google Shape;203;p14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204" name="Google Shape;204;p14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205" name="Google Shape;205;p14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sp>
        <p:nvSpPr>
          <p:cNvPr id="206" name="Google Shape;206;p14"/>
          <p:cNvSpPr/>
          <p:nvPr/>
        </p:nvSpPr>
        <p:spPr>
          <a:xfrm>
            <a:off x="7201875" y="2768850"/>
            <a:ext cx="4368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7139771" y="2321482"/>
            <a:ext cx="3165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n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7187352" y="2950295"/>
            <a:ext cx="14385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E4 (Seller &amp; Attorney)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Closing Credit Approval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14"/>
          <p:cNvCxnSpPr>
            <a:stCxn id="120" idx="2"/>
            <a:endCxn id="127" idx="0"/>
          </p:cNvCxnSpPr>
          <p:nvPr/>
        </p:nvCxnSpPr>
        <p:spPr>
          <a:xfrm>
            <a:off x="5601135" y="3736505"/>
            <a:ext cx="0" cy="2460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10" name="Google Shape;210;p14"/>
          <p:cNvSpPr/>
          <p:nvPr/>
        </p:nvSpPr>
        <p:spPr>
          <a:xfrm>
            <a:off x="5654860" y="3780150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26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1865175" y="2661350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15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1865175" y="3055838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19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213" name="Google Shape;213;p14"/>
          <p:cNvSpPr/>
          <p:nvPr/>
        </p:nvSpPr>
        <p:spPr>
          <a:xfrm rot="-2361">
            <a:off x="6974281" y="3859032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4" name="Google Shape;214;p14"/>
          <p:cNvCxnSpPr/>
          <p:nvPr/>
        </p:nvCxnSpPr>
        <p:spPr>
          <a:xfrm flipH="1" rot="10800000">
            <a:off x="-15875" y="4496176"/>
            <a:ext cx="313500" cy="1710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4"/>
          <p:cNvCxnSpPr/>
          <p:nvPr/>
        </p:nvCxnSpPr>
        <p:spPr>
          <a:xfrm flipH="1" rot="10800000">
            <a:off x="8687821" y="4366666"/>
            <a:ext cx="466500" cy="162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216" name="Google Shape;216;p14"/>
          <p:cNvSpPr/>
          <p:nvPr/>
        </p:nvSpPr>
        <p:spPr>
          <a:xfrm>
            <a:off x="8654363" y="4194262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C4587"/>
                </a:solidFill>
              </a:rPr>
              <a:t>27b</a:t>
            </a:r>
            <a:endParaRPr b="1" sz="800">
              <a:solidFill>
                <a:srgbClr val="1C4587"/>
              </a:solidFill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7233358" y="4775267"/>
            <a:ext cx="14385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E7 (Title Company)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218" name="Google Shape;218;p14"/>
          <p:cNvCxnSpPr>
            <a:stCxn id="217" idx="3"/>
          </p:cNvCxnSpPr>
          <p:nvPr/>
        </p:nvCxnSpPr>
        <p:spPr>
          <a:xfrm>
            <a:off x="8671858" y="4926317"/>
            <a:ext cx="45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4"/>
          <p:cNvCxnSpPr>
            <a:endCxn id="135" idx="1"/>
          </p:cNvCxnSpPr>
          <p:nvPr/>
        </p:nvCxnSpPr>
        <p:spPr>
          <a:xfrm>
            <a:off x="-31675" y="4975515"/>
            <a:ext cx="317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20" name="Google Shape;220;p14"/>
          <p:cNvSpPr/>
          <p:nvPr/>
        </p:nvSpPr>
        <p:spPr>
          <a:xfrm rot="-2361">
            <a:off x="8686981" y="4751825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29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21" name="Google Shape;221;p14"/>
          <p:cNvSpPr/>
          <p:nvPr/>
        </p:nvSpPr>
        <p:spPr>
          <a:xfrm rot="-2361">
            <a:off x="-89719" y="4791544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29</a:t>
            </a:r>
            <a:endParaRPr b="1" sz="800">
              <a:solidFill>
                <a:schemeClr val="dk1"/>
              </a:solidFill>
            </a:endParaRPr>
          </a:p>
        </p:txBody>
      </p:sp>
      <p:pic>
        <p:nvPicPr>
          <p:cNvPr id="222" name="Google Shape;22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9550" y="2225915"/>
            <a:ext cx="1834500" cy="4320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4"/>
          <p:cNvCxnSpPr>
            <a:stCxn id="159" idx="3"/>
            <a:endCxn id="181" idx="1"/>
          </p:cNvCxnSpPr>
          <p:nvPr/>
        </p:nvCxnSpPr>
        <p:spPr>
          <a:xfrm flipH="1" rot="10800000">
            <a:off x="8687647" y="1989034"/>
            <a:ext cx="461700" cy="20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24" name="Google Shape;224;p14"/>
          <p:cNvCxnSpPr>
            <a:stCxn id="159" idx="3"/>
            <a:endCxn id="222" idx="1"/>
          </p:cNvCxnSpPr>
          <p:nvPr/>
        </p:nvCxnSpPr>
        <p:spPr>
          <a:xfrm>
            <a:off x="8687647" y="2197534"/>
            <a:ext cx="391800" cy="24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25" name="Google Shape;225;p14"/>
          <p:cNvCxnSpPr>
            <a:stCxn id="148" idx="2"/>
            <a:endCxn id="226" idx="1"/>
          </p:cNvCxnSpPr>
          <p:nvPr/>
        </p:nvCxnSpPr>
        <p:spPr>
          <a:xfrm>
            <a:off x="1105950" y="2585975"/>
            <a:ext cx="3775500" cy="765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227" name="Google Shape;227;p14"/>
          <p:cNvGrpSpPr/>
          <p:nvPr/>
        </p:nvGrpSpPr>
        <p:grpSpPr>
          <a:xfrm>
            <a:off x="6683750" y="3693085"/>
            <a:ext cx="477900" cy="372006"/>
            <a:chOff x="6755721" y="2731418"/>
            <a:chExt cx="477900" cy="257123"/>
          </a:xfrm>
        </p:grpSpPr>
        <p:cxnSp>
          <p:nvCxnSpPr>
            <p:cNvPr id="228" name="Google Shape;228;p14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229" name="Google Shape;229;p14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230" name="Google Shape;230;p14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sp>
        <p:nvSpPr>
          <p:cNvPr id="231" name="Google Shape;231;p14"/>
          <p:cNvSpPr/>
          <p:nvPr/>
        </p:nvSpPr>
        <p:spPr>
          <a:xfrm>
            <a:off x="2026375" y="2460312"/>
            <a:ext cx="5334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12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7019325" y="1811885"/>
            <a:ext cx="2625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9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881460" y="2530300"/>
            <a:ext cx="1443900" cy="2646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A4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Inspection Coordination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233" name="Google Shape;233;p14"/>
          <p:cNvCxnSpPr>
            <a:stCxn id="226" idx="3"/>
            <a:endCxn id="160" idx="1"/>
          </p:cNvCxnSpPr>
          <p:nvPr/>
        </p:nvCxnSpPr>
        <p:spPr>
          <a:xfrm flipH="1" rot="10800000">
            <a:off x="6325360" y="2661700"/>
            <a:ext cx="876600" cy="9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34" name="Google Shape;234;p14"/>
          <p:cNvSpPr/>
          <p:nvPr/>
        </p:nvSpPr>
        <p:spPr>
          <a:xfrm>
            <a:off x="6333815" y="2523558"/>
            <a:ext cx="4368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13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4880066" y="2865075"/>
            <a:ext cx="1443900" cy="3720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A5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Seller Credit Req / Addendum Uploaded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236" name="Google Shape;236;p14"/>
          <p:cNvCxnSpPr>
            <a:stCxn id="114" idx="0"/>
            <a:endCxn id="235" idx="0"/>
          </p:cNvCxnSpPr>
          <p:nvPr/>
        </p:nvCxnSpPr>
        <p:spPr>
          <a:xfrm>
            <a:off x="1110376" y="2788754"/>
            <a:ext cx="4491600" cy="762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37" name="Google Shape;237;p14"/>
          <p:cNvCxnSpPr>
            <a:stCxn id="235" idx="3"/>
            <a:endCxn id="208" idx="1"/>
          </p:cNvCxnSpPr>
          <p:nvPr/>
        </p:nvCxnSpPr>
        <p:spPr>
          <a:xfrm>
            <a:off x="6323966" y="3051075"/>
            <a:ext cx="863400" cy="504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38" name="Google Shape;238;p14"/>
          <p:cNvSpPr/>
          <p:nvPr/>
        </p:nvSpPr>
        <p:spPr>
          <a:xfrm>
            <a:off x="6333815" y="2905718"/>
            <a:ext cx="4368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16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239" name="Google Shape;239;p14"/>
          <p:cNvCxnSpPr>
            <a:stCxn id="208" idx="1"/>
            <a:endCxn id="235" idx="2"/>
          </p:cNvCxnSpPr>
          <p:nvPr/>
        </p:nvCxnSpPr>
        <p:spPr>
          <a:xfrm flipH="1">
            <a:off x="5602152" y="3101345"/>
            <a:ext cx="1585200" cy="13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40" name="Google Shape;240;p14"/>
          <p:cNvSpPr/>
          <p:nvPr/>
        </p:nvSpPr>
        <p:spPr>
          <a:xfrm>
            <a:off x="6683750" y="3132600"/>
            <a:ext cx="4368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17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2761050" y="3048850"/>
            <a:ext cx="1506000" cy="257100"/>
          </a:xfrm>
          <a:prstGeom prst="rect">
            <a:avLst/>
          </a:prstGeom>
          <a:solidFill>
            <a:srgbClr val="7F6000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Appraisal Ordered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242" name="Google Shape;242;p14"/>
          <p:cNvCxnSpPr>
            <a:stCxn id="235" idx="1"/>
            <a:endCxn id="241" idx="3"/>
          </p:cNvCxnSpPr>
          <p:nvPr/>
        </p:nvCxnSpPr>
        <p:spPr>
          <a:xfrm flipH="1">
            <a:off x="4267166" y="3051075"/>
            <a:ext cx="612900" cy="1263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3" name="Google Shape;243;p14"/>
          <p:cNvCxnSpPr>
            <a:stCxn id="235" idx="1"/>
            <a:endCxn id="114" idx="3"/>
          </p:cNvCxnSpPr>
          <p:nvPr/>
        </p:nvCxnSpPr>
        <p:spPr>
          <a:xfrm rot="10800000">
            <a:off x="1946666" y="2978475"/>
            <a:ext cx="2933400" cy="726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44" name="Google Shape;244;p14"/>
          <p:cNvSpPr/>
          <p:nvPr/>
        </p:nvSpPr>
        <p:spPr>
          <a:xfrm>
            <a:off x="4305725" y="2898038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18a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403400" y="3121951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18b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246" name="Google Shape;246;p14"/>
          <p:cNvCxnSpPr>
            <a:stCxn id="122" idx="0"/>
            <a:endCxn id="114" idx="2"/>
          </p:cNvCxnSpPr>
          <p:nvPr/>
        </p:nvCxnSpPr>
        <p:spPr>
          <a:xfrm rot="-5400000">
            <a:off x="830026" y="3448444"/>
            <a:ext cx="561300" cy="600"/>
          </a:xfrm>
          <a:prstGeom prst="bentConnector3">
            <a:avLst>
              <a:gd fmla="val 50012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247" name="Google Shape;247;p14"/>
          <p:cNvCxnSpPr>
            <a:stCxn id="241" idx="1"/>
            <a:endCxn id="114" idx="3"/>
          </p:cNvCxnSpPr>
          <p:nvPr/>
        </p:nvCxnSpPr>
        <p:spPr>
          <a:xfrm rot="10800000">
            <a:off x="1946850" y="2978500"/>
            <a:ext cx="814200" cy="198900"/>
          </a:xfrm>
          <a:prstGeom prst="bentConnector3">
            <a:avLst>
              <a:gd fmla="val 50008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248" name="Google Shape;248;p14"/>
          <p:cNvCxnSpPr>
            <a:stCxn id="241" idx="3"/>
            <a:endCxn id="161" idx="0"/>
          </p:cNvCxnSpPr>
          <p:nvPr/>
        </p:nvCxnSpPr>
        <p:spPr>
          <a:xfrm>
            <a:off x="4267050" y="3177400"/>
            <a:ext cx="3626700" cy="5295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249" name="Google Shape;249;p14"/>
          <p:cNvSpPr/>
          <p:nvPr/>
        </p:nvSpPr>
        <p:spPr>
          <a:xfrm>
            <a:off x="3986888" y="3182097"/>
            <a:ext cx="533400" cy="17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20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816875" y="3743961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24a</a:t>
            </a:r>
            <a:endParaRPr b="1" sz="800">
              <a:solidFill>
                <a:srgbClr val="073763"/>
              </a:solidFill>
            </a:endParaRPr>
          </a:p>
        </p:txBody>
      </p:sp>
      <p:pic>
        <p:nvPicPr>
          <p:cNvPr id="251" name="Google Shape;25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1750" y="2840581"/>
            <a:ext cx="808164" cy="37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14"/>
          <p:cNvCxnSpPr>
            <a:stCxn id="208" idx="3"/>
            <a:endCxn id="251" idx="1"/>
          </p:cNvCxnSpPr>
          <p:nvPr/>
        </p:nvCxnSpPr>
        <p:spPr>
          <a:xfrm flipH="1" rot="10800000">
            <a:off x="8625852" y="3030245"/>
            <a:ext cx="675900" cy="7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 txBox="1"/>
          <p:nvPr>
            <p:ph idx="1" type="subTitle"/>
          </p:nvPr>
        </p:nvSpPr>
        <p:spPr>
          <a:xfrm>
            <a:off x="248775" y="0"/>
            <a:ext cx="85206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MVP </a:t>
            </a:r>
            <a:r>
              <a:rPr lang="en" u="sng"/>
              <a:t>Workflow Key</a:t>
            </a:r>
            <a:endParaRPr u="sng"/>
          </a:p>
        </p:txBody>
      </p:sp>
      <p:sp>
        <p:nvSpPr>
          <p:cNvPr id="258" name="Google Shape;258;p15"/>
          <p:cNvSpPr/>
          <p:nvPr/>
        </p:nvSpPr>
        <p:spPr>
          <a:xfrm>
            <a:off x="248775" y="565925"/>
            <a:ext cx="756900" cy="244200"/>
          </a:xfrm>
          <a:prstGeom prst="rect">
            <a:avLst/>
          </a:prstGeom>
          <a:solidFill>
            <a:srgbClr val="1C4587"/>
          </a:solidFill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B1-B9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259" name="Google Shape;259;p15"/>
          <p:cNvCxnSpPr/>
          <p:nvPr/>
        </p:nvCxnSpPr>
        <p:spPr>
          <a:xfrm flipH="1">
            <a:off x="248775" y="1042675"/>
            <a:ext cx="7569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260" name="Google Shape;260;p15"/>
          <p:cNvSpPr txBox="1"/>
          <p:nvPr>
            <p:ph idx="1" type="subTitle"/>
          </p:nvPr>
        </p:nvSpPr>
        <p:spPr>
          <a:xfrm>
            <a:off x="1132625" y="487350"/>
            <a:ext cx="7951200" cy="46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Blue Box with Numerals starting with “B”:</a:t>
            </a:r>
            <a:r>
              <a:rPr lang="en" sz="1200"/>
              <a:t> Exclusively Buyer Actions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Blue Arrows:</a:t>
            </a:r>
            <a:r>
              <a:rPr lang="en" sz="1200"/>
              <a:t> Workflow movement resulting from Buyer Actions leading to next action in workflow.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Gold Box with Numerals starting with “L”:</a:t>
            </a:r>
            <a:r>
              <a:rPr lang="en" sz="1200"/>
              <a:t> Exclusively Lender Actions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Gold Arrows:</a:t>
            </a:r>
            <a:r>
              <a:rPr lang="en" sz="1200"/>
              <a:t> Workflow movement resulting from Lender Actions leading to next action in workflow.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Red Box with Numerals starting with “A”:</a:t>
            </a:r>
            <a:r>
              <a:rPr lang="en" sz="1200"/>
              <a:t> Exclusively Buyer’s Agent Actions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Red Arrows:</a:t>
            </a:r>
            <a:r>
              <a:rPr lang="en" sz="1200"/>
              <a:t> Workflow movement resulting from Buyer’s Agent Actions leading to next action in workflow.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Gray Box with Numerals starting with “E”:</a:t>
            </a:r>
            <a:r>
              <a:rPr lang="en" sz="1200"/>
              <a:t> Exclusively external vendor actions (via secure-link)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Black Arrows:</a:t>
            </a:r>
            <a:r>
              <a:rPr lang="en" sz="1200"/>
              <a:t> Workflow movement resulting from external vendor actions (upload via secure-link)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Triple Arrows:</a:t>
            </a:r>
            <a:r>
              <a:rPr lang="en" sz="1200"/>
              <a:t> External vendor action auto-transfers data to all 3 workflow roles (Buyer, Lender, Agent)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Numbered Bubbles:</a:t>
            </a:r>
            <a:r>
              <a:rPr lang="en" sz="1200"/>
              <a:t> Indicate a single trigger per action across all roles, depending on the color (in sequence).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Alphanumeric Bubbles:</a:t>
            </a:r>
            <a:r>
              <a:rPr lang="en" sz="1200"/>
              <a:t> Indicate multiple triggers for a single action across multiple roles (also in sequence).</a:t>
            </a:r>
            <a:endParaRPr sz="1200"/>
          </a:p>
        </p:txBody>
      </p:sp>
      <p:sp>
        <p:nvSpPr>
          <p:cNvPr id="261" name="Google Shape;261;p15"/>
          <p:cNvSpPr/>
          <p:nvPr/>
        </p:nvSpPr>
        <p:spPr>
          <a:xfrm>
            <a:off x="248773" y="1463298"/>
            <a:ext cx="756900" cy="244200"/>
          </a:xfrm>
          <a:prstGeom prst="rect">
            <a:avLst/>
          </a:prstGeom>
          <a:solidFill>
            <a:srgbClr val="7F6000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L1-L6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262" name="Google Shape;262;p15"/>
          <p:cNvCxnSpPr/>
          <p:nvPr/>
        </p:nvCxnSpPr>
        <p:spPr>
          <a:xfrm flipH="1">
            <a:off x="269475" y="1954638"/>
            <a:ext cx="7155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263" name="Google Shape;263;p15"/>
          <p:cNvSpPr/>
          <p:nvPr/>
        </p:nvSpPr>
        <p:spPr>
          <a:xfrm>
            <a:off x="248775" y="2392128"/>
            <a:ext cx="756900" cy="2442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A1-A5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264" name="Google Shape;264;p15"/>
          <p:cNvCxnSpPr/>
          <p:nvPr/>
        </p:nvCxnSpPr>
        <p:spPr>
          <a:xfrm>
            <a:off x="256268" y="2866595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265" name="Google Shape;265;p15"/>
          <p:cNvGrpSpPr/>
          <p:nvPr/>
        </p:nvGrpSpPr>
        <p:grpSpPr>
          <a:xfrm>
            <a:off x="269468" y="4610602"/>
            <a:ext cx="715520" cy="485646"/>
            <a:chOff x="216000" y="2724600"/>
            <a:chExt cx="768963" cy="521975"/>
          </a:xfrm>
        </p:grpSpPr>
        <p:sp>
          <p:nvSpPr>
            <p:cNvPr id="266" name="Google Shape;266;p15"/>
            <p:cNvSpPr/>
            <p:nvPr/>
          </p:nvSpPr>
          <p:spPr>
            <a:xfrm>
              <a:off x="216000" y="2724600"/>
              <a:ext cx="285900" cy="285900"/>
            </a:xfrm>
            <a:prstGeom prst="ellipse">
              <a:avLst/>
            </a:prstGeom>
            <a:solidFill>
              <a:schemeClr val="lt2"/>
            </a:solidFill>
            <a:ln cap="flat" cmpd="sng" w="8850">
              <a:solidFill>
                <a:srgbClr val="0737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75" lIns="85075" spcFirstLastPara="1" rIns="85075" wrap="square" tIns="85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4">
                  <a:solidFill>
                    <a:srgbClr val="073763"/>
                  </a:solidFill>
                </a:rPr>
                <a:t>1</a:t>
              </a:r>
              <a:endParaRPr b="1" sz="744">
                <a:solidFill>
                  <a:srgbClr val="073763"/>
                </a:solidFill>
              </a:endParaRPr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548163" y="2783538"/>
              <a:ext cx="436800" cy="168000"/>
            </a:xfrm>
            <a:prstGeom prst="ellipse">
              <a:avLst/>
            </a:prstGeom>
            <a:solidFill>
              <a:schemeClr val="lt2"/>
            </a:solidFill>
            <a:ln cap="flat" cmpd="sng" w="8850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75" lIns="85075" spcFirstLastPara="1" rIns="85075" wrap="square" tIns="85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4">
                  <a:solidFill>
                    <a:srgbClr val="7F6000"/>
                  </a:solidFill>
                </a:rPr>
                <a:t>4a</a:t>
              </a:r>
              <a:endParaRPr b="1" sz="744">
                <a:solidFill>
                  <a:srgbClr val="7F6000"/>
                </a:solidFill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347600" y="3054575"/>
              <a:ext cx="436800" cy="192000"/>
            </a:xfrm>
            <a:prstGeom prst="ellipse">
              <a:avLst/>
            </a:prstGeom>
            <a:solidFill>
              <a:schemeClr val="lt2"/>
            </a:solidFill>
            <a:ln cap="flat" cmpd="sng" w="8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75" lIns="85075" spcFirstLastPara="1" rIns="85075" wrap="square" tIns="85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4">
                  <a:solidFill>
                    <a:schemeClr val="dk1"/>
                  </a:solidFill>
                </a:rPr>
                <a:t>17</a:t>
              </a:r>
              <a:endParaRPr b="1" sz="744">
                <a:solidFill>
                  <a:schemeClr val="dk1"/>
                </a:solidFill>
              </a:endParaRPr>
            </a:p>
          </p:txBody>
        </p:sp>
      </p:grpSp>
      <p:sp>
        <p:nvSpPr>
          <p:cNvPr id="269" name="Google Shape;269;p15"/>
          <p:cNvSpPr/>
          <p:nvPr/>
        </p:nvSpPr>
        <p:spPr>
          <a:xfrm>
            <a:off x="248775" y="3320950"/>
            <a:ext cx="756900" cy="2307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E1-E7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0" name="Google Shape;270;p15"/>
          <p:cNvCxnSpPr/>
          <p:nvPr/>
        </p:nvCxnSpPr>
        <p:spPr>
          <a:xfrm>
            <a:off x="269484" y="3803580"/>
            <a:ext cx="74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271" name="Google Shape;271;p15"/>
          <p:cNvGrpSpPr/>
          <p:nvPr/>
        </p:nvGrpSpPr>
        <p:grpSpPr>
          <a:xfrm>
            <a:off x="321741" y="4147540"/>
            <a:ext cx="637662" cy="343131"/>
            <a:chOff x="6755721" y="2731418"/>
            <a:chExt cx="477900" cy="257123"/>
          </a:xfrm>
        </p:grpSpPr>
        <p:cxnSp>
          <p:nvCxnSpPr>
            <p:cNvPr id="272" name="Google Shape;272;p15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273" name="Google Shape;273;p15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274" name="Google Shape;274;p15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 txBox="1"/>
          <p:nvPr>
            <p:ph type="ctrTitle"/>
          </p:nvPr>
        </p:nvSpPr>
        <p:spPr>
          <a:xfrm>
            <a:off x="311700" y="47200"/>
            <a:ext cx="8520600" cy="32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Artifact (Doc) Owners</a:t>
            </a:r>
            <a:endParaRPr b="1" sz="3980"/>
          </a:p>
        </p:txBody>
      </p:sp>
      <p:graphicFrame>
        <p:nvGraphicFramePr>
          <p:cNvPr id="280" name="Google Shape;280;p16"/>
          <p:cNvGraphicFramePr/>
          <p:nvPr/>
        </p:nvGraphicFramePr>
        <p:xfrm>
          <a:off x="263550" y="138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{58A73669-D756-46F4-B118-9EE7C928A28B}</a:tableStyleId>
              </a:tblPr>
              <a:tblGrid>
                <a:gridCol w="1467725"/>
                <a:gridCol w="1275825"/>
                <a:gridCol w="2077675"/>
                <a:gridCol w="1164850"/>
                <a:gridCol w="1071100"/>
                <a:gridCol w="1559725"/>
              </a:tblGrid>
              <a:tr h="45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/>
                        <a:t>Doc Type</a:t>
                      </a:r>
                      <a:endParaRPr b="1" sz="1100" u="sng"/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/>
                        <a:t>Initiator</a:t>
                      </a:r>
                      <a:endParaRPr b="1" sz="1100" u="sng"/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/>
                        <a:t>Vendor</a:t>
                      </a:r>
                      <a:endParaRPr b="1" sz="1100" u="sng"/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/>
                        <a:t>Load Method</a:t>
                      </a:r>
                      <a:endParaRPr b="1" sz="1100" u="sng"/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/>
                        <a:t>Primary Load</a:t>
                      </a:r>
                      <a:endParaRPr b="1" sz="1100" u="sng"/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/>
                        <a:t>Secondary Load</a:t>
                      </a:r>
                      <a:endParaRPr b="1" sz="1100" u="sng"/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5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Financial Docs</a:t>
                      </a:r>
                      <a:endParaRPr sz="1000"/>
                    </a:p>
                  </a:txBody>
                  <a:tcPr marT="45700" marB="45700" marR="45700" marL="45700" anchor="ctr"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45700" marB="45700" marR="45700" marL="45700" anchor="ctr"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n/a</a:t>
                      </a:r>
                      <a:endParaRPr sz="1000"/>
                    </a:p>
                  </a:txBody>
                  <a:tcPr marT="45700" marB="45700" marR="45700" marL="45700" anchor="ctr"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Upload</a:t>
                      </a:r>
                      <a:endParaRPr sz="1000"/>
                    </a:p>
                  </a:txBody>
                  <a:tcPr marT="45700" marB="45700" marR="45700" marL="45700" anchor="ctr"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45700" marB="45700" marR="45700" marL="45700" anchor="ctr"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2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Pre-approval Letter (PAL)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Secure-link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  <a:tr h="34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Purchase Contract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S. Agent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Docusign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Secure</a:t>
                      </a:r>
                      <a:r>
                        <a:rPr lang="en" sz="1000"/>
                        <a:t>-link / Upload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B. Agent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Secure-link (S. Agent) / Buyer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  <a:tr h="24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Term Sheet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Lender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Upload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  <a:tr h="38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Appraisal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AMC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(Appraisal Mgmt Company)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Secure-link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AMC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Inspection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Inspection Co.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Secure</a:t>
                      </a:r>
                      <a:r>
                        <a:rPr lang="en" sz="1000"/>
                        <a:t>-link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Inspection Co.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 / B. Agent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  <a:tr h="25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HO Insurance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Insurance Co.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Upload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Insurance Co. Secure-link / B. Agent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  <a:tr h="25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Closing Docs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Notary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Secure-link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Lender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 / B. Agent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  <a:tr h="25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Deed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Title Co.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Title Co.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Secure-link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Title. Co</a:t>
                      </a:r>
                      <a:endParaRPr sz="1000"/>
                    </a:p>
                  </a:txBody>
                  <a:tcPr marT="45700" marB="45700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B. Agent</a:t>
                      </a:r>
                      <a:endParaRPr sz="1000"/>
                    </a:p>
                  </a:txBody>
                  <a:tcPr marT="45700" marB="45700" marR="45700" marL="45700" anchor="ctr"/>
                </a:tc>
              </a:tr>
            </a:tbl>
          </a:graphicData>
        </a:graphic>
      </p:graphicFrame>
      <p:sp>
        <p:nvSpPr>
          <p:cNvPr id="281" name="Google Shape;281;p16"/>
          <p:cNvSpPr txBox="1"/>
          <p:nvPr>
            <p:ph type="ctrTitle"/>
          </p:nvPr>
        </p:nvSpPr>
        <p:spPr>
          <a:xfrm>
            <a:off x="280225" y="420775"/>
            <a:ext cx="8520600" cy="7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20">
                <a:solidFill>
                  <a:schemeClr val="dk2"/>
                </a:solidFill>
              </a:rPr>
              <a:t>Onboarded Participants:</a:t>
            </a:r>
            <a:r>
              <a:rPr lang="en" sz="1420">
                <a:solidFill>
                  <a:schemeClr val="dk2"/>
                </a:solidFill>
              </a:rPr>
              <a:t> Buyer, Lender, Buyer’s Agent</a:t>
            </a:r>
            <a:endParaRPr sz="14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20">
                <a:solidFill>
                  <a:schemeClr val="dk2"/>
                </a:solidFill>
              </a:rPr>
              <a:t>External (</a:t>
            </a:r>
            <a:r>
              <a:rPr b="1" lang="en" sz="1420">
                <a:solidFill>
                  <a:schemeClr val="dk2"/>
                </a:solidFill>
              </a:rPr>
              <a:t>Secure-link) Participants:</a:t>
            </a:r>
            <a:r>
              <a:rPr lang="en" sz="1420">
                <a:solidFill>
                  <a:schemeClr val="dk2"/>
                </a:solidFill>
              </a:rPr>
              <a:t> Attorney, Appraiser, Inspector, Title Company, Notary</a:t>
            </a:r>
            <a:endParaRPr sz="142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20">
                <a:solidFill>
                  <a:schemeClr val="dk2"/>
                </a:solidFill>
              </a:rPr>
              <a:t>Open:</a:t>
            </a:r>
            <a:r>
              <a:rPr lang="en" sz="1420">
                <a:solidFill>
                  <a:schemeClr val="dk2"/>
                </a:solidFill>
              </a:rPr>
              <a:t> Seller, Seller’s Agent</a:t>
            </a:r>
            <a:endParaRPr sz="14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17"/>
          <p:cNvCxnSpPr>
            <a:stCxn id="287" idx="0"/>
            <a:endCxn id="288" idx="2"/>
          </p:cNvCxnSpPr>
          <p:nvPr/>
        </p:nvCxnSpPr>
        <p:spPr>
          <a:xfrm rot="-5400000">
            <a:off x="1044870" y="546071"/>
            <a:ext cx="158700" cy="4800"/>
          </a:xfrm>
          <a:prstGeom prst="bentConnector3">
            <a:avLst>
              <a:gd fmla="val 50024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289" name="Google Shape;289;p17"/>
          <p:cNvSpPr txBox="1"/>
          <p:nvPr/>
        </p:nvSpPr>
        <p:spPr>
          <a:xfrm>
            <a:off x="37875" y="-1650"/>
            <a:ext cx="2368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134F5C"/>
                </a:solidFill>
              </a:rPr>
              <a:t>BUYER (initiator)</a:t>
            </a:r>
            <a:endParaRPr b="1" sz="1000" u="sng">
              <a:solidFill>
                <a:srgbClr val="134F5C"/>
              </a:solidFill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2122238" y="747537"/>
            <a:ext cx="26142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7F6000"/>
                </a:solidFill>
              </a:rPr>
              <a:t>LENDER (gatekeeper)</a:t>
            </a:r>
            <a:endParaRPr b="1" sz="1000" u="sng">
              <a:solidFill>
                <a:srgbClr val="7F6000"/>
              </a:solidFill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4619403" y="735900"/>
            <a:ext cx="18981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990000"/>
                </a:solidFill>
              </a:rPr>
              <a:t>AGENT (collaborator)</a:t>
            </a:r>
            <a:endParaRPr b="1" sz="1000" u="sng">
              <a:solidFill>
                <a:srgbClr val="990000"/>
              </a:solidFill>
            </a:endParaRPr>
          </a:p>
        </p:txBody>
      </p:sp>
      <p:cxnSp>
        <p:nvCxnSpPr>
          <p:cNvPr id="292" name="Google Shape;292;p17"/>
          <p:cNvCxnSpPr>
            <a:stCxn id="293" idx="1"/>
            <a:endCxn id="294" idx="3"/>
          </p:cNvCxnSpPr>
          <p:nvPr/>
        </p:nvCxnSpPr>
        <p:spPr>
          <a:xfrm flipH="1">
            <a:off x="1964397" y="1195495"/>
            <a:ext cx="755400" cy="99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295" name="Google Shape;295;p17"/>
          <p:cNvCxnSpPr>
            <a:stCxn id="296" idx="1"/>
            <a:endCxn id="293" idx="3"/>
          </p:cNvCxnSpPr>
          <p:nvPr/>
        </p:nvCxnSpPr>
        <p:spPr>
          <a:xfrm rot="10800000">
            <a:off x="4225746" y="1195495"/>
            <a:ext cx="656100" cy="81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stealth"/>
            <a:tailEnd len="sm" w="sm" type="none"/>
          </a:ln>
        </p:spPr>
      </p:cxnSp>
      <p:grpSp>
        <p:nvGrpSpPr>
          <p:cNvPr id="297" name="Google Shape;297;p17"/>
          <p:cNvGrpSpPr/>
          <p:nvPr/>
        </p:nvGrpSpPr>
        <p:grpSpPr>
          <a:xfrm>
            <a:off x="4881343" y="1066045"/>
            <a:ext cx="1439077" cy="3984828"/>
            <a:chOff x="6745064" y="1301981"/>
            <a:chExt cx="1260579" cy="3984828"/>
          </a:xfrm>
        </p:grpSpPr>
        <p:grpSp>
          <p:nvGrpSpPr>
            <p:cNvPr id="298" name="Google Shape;298;p17"/>
            <p:cNvGrpSpPr/>
            <p:nvPr/>
          </p:nvGrpSpPr>
          <p:grpSpPr>
            <a:xfrm>
              <a:off x="6745064" y="1301981"/>
              <a:ext cx="1260579" cy="3218675"/>
              <a:chOff x="282159" y="-266491"/>
              <a:chExt cx="1141002" cy="3218675"/>
            </a:xfrm>
          </p:grpSpPr>
          <p:sp>
            <p:nvSpPr>
              <p:cNvPr id="296" name="Google Shape;296;p17"/>
              <p:cNvSpPr/>
              <p:nvPr/>
            </p:nvSpPr>
            <p:spPr>
              <a:xfrm>
                <a:off x="282558" y="-266491"/>
                <a:ext cx="1140600" cy="2751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A1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Buyer Overview &amp; PAL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299" name="Google Shape;299;p17"/>
              <p:cNvSpPr/>
              <p:nvPr/>
            </p:nvSpPr>
            <p:spPr>
              <a:xfrm>
                <a:off x="282159" y="557081"/>
                <a:ext cx="1140600" cy="3021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A2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Offer Support/Review/CMA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Google Shape;300;p17"/>
              <p:cNvSpPr/>
              <p:nvPr/>
            </p:nvSpPr>
            <p:spPr>
              <a:xfrm>
                <a:off x="282561" y="1727771"/>
                <a:ext cx="1140600" cy="2751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A4</a:t>
                </a:r>
                <a:endParaRPr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Pre-closing Support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Google Shape;301;p17"/>
              <p:cNvSpPr/>
              <p:nvPr/>
            </p:nvSpPr>
            <p:spPr>
              <a:xfrm>
                <a:off x="282561" y="2650083"/>
                <a:ext cx="1140600" cy="302100"/>
              </a:xfrm>
              <a:prstGeom prst="rect">
                <a:avLst/>
              </a:prstGeom>
              <a:solidFill>
                <a:srgbClr val="660000"/>
              </a:solidFill>
              <a:ln cap="flat" cmpd="sng" w="28575">
                <a:solidFill>
                  <a:srgbClr val="99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A5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Closing Summary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02" name="Google Shape;302;p17"/>
            <p:cNvSpPr/>
            <p:nvPr/>
          </p:nvSpPr>
          <p:spPr>
            <a:xfrm>
              <a:off x="6745582" y="5118209"/>
              <a:ext cx="1260000" cy="168600"/>
            </a:xfrm>
            <a:prstGeom prst="rect">
              <a:avLst/>
            </a:prstGeom>
            <a:solidFill>
              <a:srgbClr val="660000"/>
            </a:solidFill>
            <a:ln cap="flat" cmpd="sng" w="2857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DEAL CLOSED!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cxnSp>
        <p:nvCxnSpPr>
          <p:cNvPr id="303" name="Google Shape;303;p17"/>
          <p:cNvCxnSpPr>
            <a:stCxn id="304" idx="1"/>
            <a:endCxn id="305" idx="2"/>
          </p:cNvCxnSpPr>
          <p:nvPr/>
        </p:nvCxnSpPr>
        <p:spPr>
          <a:xfrm rot="10800000">
            <a:off x="1133920" y="3365523"/>
            <a:ext cx="1603500" cy="1323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306" name="Google Shape;306;p17"/>
          <p:cNvCxnSpPr>
            <a:stCxn id="299" idx="1"/>
            <a:endCxn id="307" idx="3"/>
          </p:cNvCxnSpPr>
          <p:nvPr/>
        </p:nvCxnSpPr>
        <p:spPr>
          <a:xfrm flipH="1">
            <a:off x="1958143" y="2040667"/>
            <a:ext cx="2923200" cy="423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" name="Google Shape;308;p17"/>
          <p:cNvCxnSpPr>
            <a:stCxn id="293" idx="1"/>
            <a:endCxn id="307" idx="0"/>
          </p:cNvCxnSpPr>
          <p:nvPr/>
        </p:nvCxnSpPr>
        <p:spPr>
          <a:xfrm flipH="1">
            <a:off x="1121697" y="1195495"/>
            <a:ext cx="1598100" cy="6987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309" name="Google Shape;309;p17"/>
          <p:cNvCxnSpPr>
            <a:stCxn id="304" idx="3"/>
            <a:endCxn id="300" idx="1"/>
          </p:cNvCxnSpPr>
          <p:nvPr/>
        </p:nvCxnSpPr>
        <p:spPr>
          <a:xfrm flipH="1" rot="10800000">
            <a:off x="4243354" y="3197823"/>
            <a:ext cx="638400" cy="3000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310" name="Google Shape;310;p17"/>
          <p:cNvCxnSpPr>
            <a:stCxn id="311" idx="3"/>
            <a:endCxn id="312" idx="1"/>
          </p:cNvCxnSpPr>
          <p:nvPr/>
        </p:nvCxnSpPr>
        <p:spPr>
          <a:xfrm>
            <a:off x="1970315" y="3925959"/>
            <a:ext cx="771000" cy="660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3" name="Google Shape;313;p17"/>
          <p:cNvCxnSpPr>
            <a:stCxn id="312" idx="1"/>
            <a:endCxn id="314" idx="0"/>
          </p:cNvCxnSpPr>
          <p:nvPr/>
        </p:nvCxnSpPr>
        <p:spPr>
          <a:xfrm flipH="1">
            <a:off x="1134050" y="3992075"/>
            <a:ext cx="1607400" cy="3876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5" name="Google Shape;315;p17"/>
          <p:cNvCxnSpPr>
            <a:stCxn id="312" idx="3"/>
            <a:endCxn id="300" idx="2"/>
          </p:cNvCxnSpPr>
          <p:nvPr/>
        </p:nvCxnSpPr>
        <p:spPr>
          <a:xfrm flipH="1" rot="10800000">
            <a:off x="4247384" y="3335375"/>
            <a:ext cx="1353900" cy="6567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6" name="Google Shape;316;p17"/>
          <p:cNvCxnSpPr>
            <a:stCxn id="314" idx="3"/>
            <a:endCxn id="317" idx="1"/>
          </p:cNvCxnSpPr>
          <p:nvPr/>
        </p:nvCxnSpPr>
        <p:spPr>
          <a:xfrm flipH="1" rot="10800000">
            <a:off x="1970315" y="4526786"/>
            <a:ext cx="771000" cy="27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8" name="Google Shape;318;p17"/>
          <p:cNvCxnSpPr>
            <a:stCxn id="314" idx="3"/>
            <a:endCxn id="301" idx="1"/>
          </p:cNvCxnSpPr>
          <p:nvPr/>
        </p:nvCxnSpPr>
        <p:spPr>
          <a:xfrm flipH="1" rot="10800000">
            <a:off x="1970315" y="4133786"/>
            <a:ext cx="2911500" cy="3957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9" name="Google Shape;319;p17"/>
          <p:cNvCxnSpPr>
            <a:stCxn id="317" idx="2"/>
            <a:endCxn id="320" idx="0"/>
          </p:cNvCxnSpPr>
          <p:nvPr/>
        </p:nvCxnSpPr>
        <p:spPr>
          <a:xfrm flipH="1">
            <a:off x="1121725" y="4664450"/>
            <a:ext cx="2372700" cy="2172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21" name="Google Shape;321;p17"/>
          <p:cNvCxnSpPr>
            <a:stCxn id="317" idx="2"/>
            <a:endCxn id="322" idx="0"/>
          </p:cNvCxnSpPr>
          <p:nvPr/>
        </p:nvCxnSpPr>
        <p:spPr>
          <a:xfrm>
            <a:off x="3494425" y="4664450"/>
            <a:ext cx="0" cy="2178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23" name="Google Shape;323;p17"/>
          <p:cNvCxnSpPr>
            <a:stCxn id="317" idx="2"/>
            <a:endCxn id="302" idx="1"/>
          </p:cNvCxnSpPr>
          <p:nvPr/>
        </p:nvCxnSpPr>
        <p:spPr>
          <a:xfrm>
            <a:off x="3494425" y="4664450"/>
            <a:ext cx="1387500" cy="3021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24" name="Google Shape;324;p17"/>
          <p:cNvGrpSpPr/>
          <p:nvPr/>
        </p:nvGrpSpPr>
        <p:grpSpPr>
          <a:xfrm>
            <a:off x="285425" y="211945"/>
            <a:ext cx="1684890" cy="4873284"/>
            <a:chOff x="285425" y="225570"/>
            <a:chExt cx="1684890" cy="4873284"/>
          </a:xfrm>
        </p:grpSpPr>
        <p:grpSp>
          <p:nvGrpSpPr>
            <p:cNvPr id="325" name="Google Shape;325;p17"/>
            <p:cNvGrpSpPr/>
            <p:nvPr/>
          </p:nvGrpSpPr>
          <p:grpSpPr>
            <a:xfrm>
              <a:off x="285475" y="225570"/>
              <a:ext cx="1684840" cy="4467241"/>
              <a:chOff x="284547" y="225570"/>
              <a:chExt cx="1148885" cy="4467241"/>
            </a:xfrm>
          </p:grpSpPr>
          <p:sp>
            <p:nvSpPr>
              <p:cNvPr id="288" name="Google Shape;288;p17"/>
              <p:cNvSpPr/>
              <p:nvPr/>
            </p:nvSpPr>
            <p:spPr>
              <a:xfrm>
                <a:off x="287803" y="225570"/>
                <a:ext cx="1140600" cy="2571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B1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Add Property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284547" y="641446"/>
                <a:ext cx="1140600" cy="2571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B2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Confirm Team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Google Shape;307;p17"/>
              <p:cNvSpPr/>
              <p:nvPr/>
            </p:nvSpPr>
            <p:spPr>
              <a:xfrm>
                <a:off x="284547" y="1907800"/>
                <a:ext cx="1140600" cy="3774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B4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Calc / Determine Offer &amp; Submit / Sign Docusign (from Agent)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305" name="Google Shape;305;p17"/>
              <p:cNvSpPr/>
              <p:nvPr/>
            </p:nvSpPr>
            <p:spPr>
              <a:xfrm>
                <a:off x="292832" y="3022602"/>
                <a:ext cx="1140600" cy="3564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B6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Schedule Inspection + Appraisal Order Confirmation &amp; RESULTS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Google Shape;311;p17"/>
              <p:cNvSpPr/>
              <p:nvPr/>
            </p:nvSpPr>
            <p:spPr>
              <a:xfrm>
                <a:off x="292832" y="3750884"/>
                <a:ext cx="1140600" cy="3774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B7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Homeowners Insurance+Preferences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Google Shape;314;p17"/>
              <p:cNvSpPr/>
              <p:nvPr/>
            </p:nvSpPr>
            <p:spPr>
              <a:xfrm>
                <a:off x="292832" y="4393411"/>
                <a:ext cx="1140600" cy="299400"/>
              </a:xfrm>
              <a:prstGeom prst="rect">
                <a:avLst/>
              </a:prstGeom>
              <a:solidFill>
                <a:srgbClr val="1C45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B8</a:t>
                </a:r>
                <a:b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Walk Thru &amp; Notary - Final Prep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20" name="Google Shape;320;p17"/>
            <p:cNvSpPr/>
            <p:nvPr/>
          </p:nvSpPr>
          <p:spPr>
            <a:xfrm>
              <a:off x="285425" y="4895154"/>
              <a:ext cx="1672800" cy="2037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CONGRATS! CLOSED!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sp>
        <p:nvSpPr>
          <p:cNvPr id="326" name="Google Shape;326;p17"/>
          <p:cNvSpPr/>
          <p:nvPr/>
        </p:nvSpPr>
        <p:spPr>
          <a:xfrm>
            <a:off x="168825" y="150050"/>
            <a:ext cx="285900" cy="28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172575" y="485975"/>
            <a:ext cx="285900" cy="28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710950" y="3005125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14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329" name="Google Shape;329;p17"/>
          <p:cNvSpPr txBox="1"/>
          <p:nvPr/>
        </p:nvSpPr>
        <p:spPr>
          <a:xfrm rot="1687">
            <a:off x="2508914" y="2387192"/>
            <a:ext cx="18345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990000"/>
                </a:solidFill>
              </a:rPr>
              <a:t>*Offer Accepted Trigger!</a:t>
            </a:r>
            <a:endParaRPr b="1" i="1" sz="1000">
              <a:solidFill>
                <a:srgbClr val="990000"/>
              </a:solidFill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291625" y="1076795"/>
            <a:ext cx="1672800" cy="25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Financing Readiness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330" name="Google Shape;330;p17"/>
          <p:cNvCxnSpPr>
            <a:stCxn id="294" idx="0"/>
            <a:endCxn id="287" idx="2"/>
          </p:cNvCxnSpPr>
          <p:nvPr/>
        </p:nvCxnSpPr>
        <p:spPr>
          <a:xfrm flipH="1" rot="5400000">
            <a:off x="1028875" y="977645"/>
            <a:ext cx="192000" cy="6300"/>
          </a:xfrm>
          <a:prstGeom prst="bentConnector3">
            <a:avLst>
              <a:gd fmla="val 49967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331" name="Google Shape;331;p17"/>
          <p:cNvSpPr/>
          <p:nvPr/>
        </p:nvSpPr>
        <p:spPr>
          <a:xfrm>
            <a:off x="172575" y="945835"/>
            <a:ext cx="285900" cy="28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3</a:t>
            </a:r>
            <a:endParaRPr b="1" sz="800">
              <a:solidFill>
                <a:srgbClr val="073763"/>
              </a:solidFill>
            </a:endParaRPr>
          </a:p>
        </p:txBody>
      </p:sp>
      <p:cxnSp>
        <p:nvCxnSpPr>
          <p:cNvPr id="332" name="Google Shape;332;p17"/>
          <p:cNvCxnSpPr>
            <a:stCxn id="333" idx="2"/>
            <a:endCxn id="334" idx="0"/>
          </p:cNvCxnSpPr>
          <p:nvPr/>
        </p:nvCxnSpPr>
        <p:spPr>
          <a:xfrm flipH="1">
            <a:off x="1134309" y="1822473"/>
            <a:ext cx="2360100" cy="5610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334" name="Google Shape;334;p17"/>
          <p:cNvSpPr/>
          <p:nvPr/>
        </p:nvSpPr>
        <p:spPr>
          <a:xfrm>
            <a:off x="297875" y="2383525"/>
            <a:ext cx="1672800" cy="3564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B5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Offer Accepted! Sign Term Sheet + Appraisal Pref  (Optional)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4619400" y="2064638"/>
            <a:ext cx="2625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6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336" name="Google Shape;336;p17"/>
          <p:cNvCxnSpPr>
            <a:stCxn id="305" idx="0"/>
            <a:endCxn id="334" idx="2"/>
          </p:cNvCxnSpPr>
          <p:nvPr/>
        </p:nvCxnSpPr>
        <p:spPr>
          <a:xfrm rot="-5400000">
            <a:off x="999720" y="2874126"/>
            <a:ext cx="269100" cy="600"/>
          </a:xfrm>
          <a:prstGeom prst="bentConnector3">
            <a:avLst>
              <a:gd fmla="val 49991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337" name="Google Shape;337;p17"/>
          <p:cNvSpPr/>
          <p:nvPr/>
        </p:nvSpPr>
        <p:spPr>
          <a:xfrm>
            <a:off x="1565200" y="3677498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22a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7003553" y="1529187"/>
            <a:ext cx="18981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666666"/>
                </a:solidFill>
              </a:rPr>
              <a:t>EXTERNAL Party (securelink)</a:t>
            </a:r>
            <a:endParaRPr b="1" sz="1000" u="sng">
              <a:solidFill>
                <a:srgbClr val="666666"/>
              </a:solidFill>
            </a:endParaRPr>
          </a:p>
        </p:txBody>
      </p:sp>
      <p:grpSp>
        <p:nvGrpSpPr>
          <p:cNvPr id="339" name="Google Shape;339;p17"/>
          <p:cNvGrpSpPr/>
          <p:nvPr/>
        </p:nvGrpSpPr>
        <p:grpSpPr>
          <a:xfrm>
            <a:off x="7233090" y="1889667"/>
            <a:ext cx="1439045" cy="1766399"/>
            <a:chOff x="282159" y="761563"/>
            <a:chExt cx="1141012" cy="1766399"/>
          </a:xfrm>
        </p:grpSpPr>
        <p:sp>
          <p:nvSpPr>
            <p:cNvPr id="340" name="Google Shape;340;p17"/>
            <p:cNvSpPr/>
            <p:nvPr/>
          </p:nvSpPr>
          <p:spPr>
            <a:xfrm>
              <a:off x="282159" y="761563"/>
              <a:ext cx="1140600" cy="3021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E1 (Seller)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Offer Received &amp; Accepted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282571" y="1279476"/>
              <a:ext cx="1140600" cy="2859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E2 (B. Attorney/Title Co.)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Contract/Title Review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282558" y="1702731"/>
              <a:ext cx="1140600" cy="3021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E3 (Appraiser)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Appraisal Results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282561" y="2225861"/>
              <a:ext cx="1140600" cy="302100"/>
            </a:xfrm>
            <a:prstGeom prst="rect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E4 (Inspector)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Inspection Results</a:t>
              </a:r>
              <a:endParaRPr sz="800">
                <a:solidFill>
                  <a:srgbClr val="FFFFFF"/>
                </a:solidFill>
              </a:endParaRPr>
            </a:p>
          </p:txBody>
        </p:sp>
      </p:grpSp>
      <p:sp>
        <p:nvSpPr>
          <p:cNvPr id="344" name="Google Shape;344;p17"/>
          <p:cNvSpPr/>
          <p:nvPr/>
        </p:nvSpPr>
        <p:spPr>
          <a:xfrm>
            <a:off x="1654050" y="4841700"/>
            <a:ext cx="533400" cy="16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26a</a:t>
            </a:r>
            <a:endParaRPr b="1" sz="800">
              <a:solidFill>
                <a:srgbClr val="7F6000"/>
              </a:solidFill>
            </a:endParaRPr>
          </a:p>
        </p:txBody>
      </p:sp>
      <p:cxnSp>
        <p:nvCxnSpPr>
          <p:cNvPr id="345" name="Google Shape;345;p17"/>
          <p:cNvCxnSpPr>
            <a:stCxn id="307" idx="0"/>
            <a:endCxn id="299" idx="0"/>
          </p:cNvCxnSpPr>
          <p:nvPr/>
        </p:nvCxnSpPr>
        <p:spPr>
          <a:xfrm flipH="1" rot="10800000">
            <a:off x="1121820" y="1889675"/>
            <a:ext cx="4478700" cy="45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6" name="Google Shape;346;p17"/>
          <p:cNvCxnSpPr>
            <a:stCxn id="307" idx="0"/>
            <a:endCxn id="333" idx="1"/>
          </p:cNvCxnSpPr>
          <p:nvPr/>
        </p:nvCxnSpPr>
        <p:spPr>
          <a:xfrm flipH="1" rot="10800000">
            <a:off x="1121820" y="1684775"/>
            <a:ext cx="1619700" cy="2094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47" name="Google Shape;347;p17"/>
          <p:cNvSpPr/>
          <p:nvPr/>
        </p:nvSpPr>
        <p:spPr>
          <a:xfrm>
            <a:off x="1411900" y="1676825"/>
            <a:ext cx="4839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7a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1339375" y="1889463"/>
            <a:ext cx="4839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7b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881643" y="2398545"/>
            <a:ext cx="1438500" cy="302100"/>
          </a:xfrm>
          <a:prstGeom prst="rect">
            <a:avLst/>
          </a:prstGeom>
          <a:solidFill>
            <a:srgbClr val="66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Docusign Upload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350" name="Google Shape;350;p17"/>
          <p:cNvCxnSpPr>
            <a:stCxn id="296" idx="2"/>
            <a:endCxn id="299" idx="0"/>
          </p:cNvCxnSpPr>
          <p:nvPr/>
        </p:nvCxnSpPr>
        <p:spPr>
          <a:xfrm flipH="1">
            <a:off x="5600531" y="1341145"/>
            <a:ext cx="600" cy="5484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51" name="Google Shape;351;p17"/>
          <p:cNvSpPr/>
          <p:nvPr/>
        </p:nvSpPr>
        <p:spPr>
          <a:xfrm>
            <a:off x="5338625" y="1349800"/>
            <a:ext cx="262500" cy="20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5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352" name="Google Shape;352;p17"/>
          <p:cNvCxnSpPr>
            <a:stCxn id="299" idx="3"/>
            <a:endCxn id="340" idx="1"/>
          </p:cNvCxnSpPr>
          <p:nvPr/>
        </p:nvCxnSpPr>
        <p:spPr>
          <a:xfrm>
            <a:off x="6319913" y="2040667"/>
            <a:ext cx="9132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53" name="Google Shape;353;p17"/>
          <p:cNvGrpSpPr/>
          <p:nvPr/>
        </p:nvGrpSpPr>
        <p:grpSpPr>
          <a:xfrm>
            <a:off x="2478475" y="996375"/>
            <a:ext cx="1925188" cy="4089493"/>
            <a:chOff x="3252203" y="1243287"/>
            <a:chExt cx="1925188" cy="4089493"/>
          </a:xfrm>
        </p:grpSpPr>
        <p:grpSp>
          <p:nvGrpSpPr>
            <p:cNvPr id="354" name="Google Shape;354;p17"/>
            <p:cNvGrpSpPr/>
            <p:nvPr/>
          </p:nvGrpSpPr>
          <p:grpSpPr>
            <a:xfrm>
              <a:off x="3493525" y="1253256"/>
              <a:ext cx="1527625" cy="4079524"/>
              <a:chOff x="3493525" y="1253256"/>
              <a:chExt cx="1527625" cy="4079524"/>
            </a:xfrm>
          </p:grpSpPr>
          <p:grpSp>
            <p:nvGrpSpPr>
              <p:cNvPr id="355" name="Google Shape;355;p17"/>
              <p:cNvGrpSpPr/>
              <p:nvPr/>
            </p:nvGrpSpPr>
            <p:grpSpPr>
              <a:xfrm>
                <a:off x="3493525" y="1253256"/>
                <a:ext cx="1527588" cy="3174881"/>
                <a:chOff x="267088" y="-294027"/>
                <a:chExt cx="1157000" cy="3174881"/>
              </a:xfrm>
            </p:grpSpPr>
            <p:sp>
              <p:nvSpPr>
                <p:cNvPr id="293" name="Google Shape;293;p17"/>
                <p:cNvSpPr/>
                <p:nvPr/>
              </p:nvSpPr>
              <p:spPr>
                <a:xfrm>
                  <a:off x="267088" y="-294027"/>
                  <a:ext cx="1140600" cy="378300"/>
                </a:xfrm>
                <a:prstGeom prst="rect">
                  <a:avLst/>
                </a:prstGeom>
                <a:solidFill>
                  <a:srgbClr val="7F6000"/>
                </a:solidFill>
                <a:ln cap="flat" cmpd="sng" w="28575">
                  <a:solidFill>
                    <a:srgbClr val="BF9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L1</a:t>
                  </a:r>
                  <a:b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Doc Review &amp; Upload Pre Approval Letter (PAL)</a:t>
                  </a:r>
                  <a:endParaRPr sz="8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04" name="Google Shape;304;p17"/>
                <p:cNvSpPr/>
                <p:nvPr/>
              </p:nvSpPr>
              <p:spPr>
                <a:xfrm>
                  <a:off x="280436" y="2043102"/>
                  <a:ext cx="1140600" cy="308700"/>
                </a:xfrm>
                <a:prstGeom prst="rect">
                  <a:avLst/>
                </a:prstGeom>
                <a:solidFill>
                  <a:srgbClr val="7F6000"/>
                </a:solidFill>
                <a:ln cap="flat" cmpd="sng" w="28575">
                  <a:solidFill>
                    <a:srgbClr val="BF9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L4</a:t>
                  </a:r>
                  <a:b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Appraisal Review</a:t>
                  </a:r>
                  <a:endParaRPr sz="8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2" name="Google Shape;312;p17"/>
                <p:cNvSpPr/>
                <p:nvPr/>
              </p:nvSpPr>
              <p:spPr>
                <a:xfrm>
                  <a:off x="283488" y="2502554"/>
                  <a:ext cx="1140600" cy="378300"/>
                </a:xfrm>
                <a:prstGeom prst="rect">
                  <a:avLst/>
                </a:prstGeom>
                <a:solidFill>
                  <a:srgbClr val="7F6000"/>
                </a:solidFill>
                <a:ln cap="flat" cmpd="sng" w="28575">
                  <a:solidFill>
                    <a:srgbClr val="BF9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L5</a:t>
                  </a:r>
                  <a:b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lang="en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Final Underwriting Check &amp; C2C Summary</a:t>
                  </a:r>
                  <a:endParaRPr sz="80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22" name="Google Shape;322;p17"/>
              <p:cNvSpPr/>
              <p:nvPr/>
            </p:nvSpPr>
            <p:spPr>
              <a:xfrm>
                <a:off x="3515150" y="5129080"/>
                <a:ext cx="1506000" cy="203700"/>
              </a:xfrm>
              <a:prstGeom prst="rect">
                <a:avLst/>
              </a:prstGeom>
              <a:solidFill>
                <a:srgbClr val="7F6000"/>
              </a:solidFill>
              <a:ln cap="flat" cmpd="sng" w="28575">
                <a:solidFill>
                  <a:srgbClr val="BF9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CLOSED!</a:t>
                </a:r>
                <a:endParaRPr sz="8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17" name="Google Shape;317;p17"/>
            <p:cNvSpPr/>
            <p:nvPr/>
          </p:nvSpPr>
          <p:spPr>
            <a:xfrm>
              <a:off x="3515153" y="4636261"/>
              <a:ext cx="1506000" cy="275100"/>
            </a:xfrm>
            <a:prstGeom prst="rect">
              <a:avLst/>
            </a:prstGeom>
            <a:solidFill>
              <a:srgbClr val="7F6000"/>
            </a:solidFill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L6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Approve Loan Funding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4740591" y="1243287"/>
              <a:ext cx="436800" cy="16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F6000"/>
                  </a:solidFill>
                </a:rPr>
                <a:t>4b</a:t>
              </a:r>
              <a:endParaRPr b="1" sz="800">
                <a:solidFill>
                  <a:srgbClr val="7F6000"/>
                </a:solidFill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3252203" y="3792708"/>
              <a:ext cx="533400" cy="173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F6000"/>
                  </a:solidFill>
                </a:rPr>
                <a:t>20a</a:t>
              </a:r>
              <a:endParaRPr b="1" sz="800">
                <a:solidFill>
                  <a:srgbClr val="7F6000"/>
                </a:solidFill>
              </a:endParaRPr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3515138" y="1794285"/>
              <a:ext cx="1506000" cy="275100"/>
            </a:xfrm>
            <a:prstGeom prst="rect">
              <a:avLst/>
            </a:prstGeom>
            <a:solidFill>
              <a:srgbClr val="7F6000"/>
            </a:solidFill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L2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Deliver Term Sheet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3300491" y="1512549"/>
              <a:ext cx="436800" cy="16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F6000"/>
                  </a:solidFill>
                </a:rPr>
                <a:t>4a</a:t>
              </a:r>
              <a:endParaRPr b="1" sz="800">
                <a:solidFill>
                  <a:srgbClr val="7F6000"/>
                </a:solidFill>
              </a:endParaRPr>
            </a:p>
          </p:txBody>
        </p:sp>
      </p:grpSp>
      <p:sp>
        <p:nvSpPr>
          <p:cNvPr id="359" name="Google Shape;359;p17"/>
          <p:cNvSpPr/>
          <p:nvPr/>
        </p:nvSpPr>
        <p:spPr>
          <a:xfrm>
            <a:off x="6320000" y="1889463"/>
            <a:ext cx="2625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8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7106475" y="2093525"/>
            <a:ext cx="2625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9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361" name="Google Shape;361;p17"/>
          <p:cNvCxnSpPr>
            <a:stCxn id="349" idx="1"/>
            <a:endCxn id="334" idx="3"/>
          </p:cNvCxnSpPr>
          <p:nvPr/>
        </p:nvCxnSpPr>
        <p:spPr>
          <a:xfrm flipH="1">
            <a:off x="1970743" y="2549595"/>
            <a:ext cx="2910900" cy="120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2" name="Google Shape;362;p17"/>
          <p:cNvCxnSpPr>
            <a:stCxn id="349" idx="1"/>
            <a:endCxn id="333" idx="2"/>
          </p:cNvCxnSpPr>
          <p:nvPr/>
        </p:nvCxnSpPr>
        <p:spPr>
          <a:xfrm rot="10800000">
            <a:off x="3494443" y="1822395"/>
            <a:ext cx="1387200" cy="7272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3" name="Google Shape;363;p17"/>
          <p:cNvSpPr/>
          <p:nvPr/>
        </p:nvSpPr>
        <p:spPr>
          <a:xfrm>
            <a:off x="4642100" y="2317325"/>
            <a:ext cx="5334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10b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4483950" y="2549826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10c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3257462" y="1810625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11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2722200" y="2639125"/>
            <a:ext cx="1506000" cy="285900"/>
          </a:xfrm>
          <a:prstGeom prst="rect">
            <a:avLst/>
          </a:prstGeom>
          <a:solidFill>
            <a:srgbClr val="7F6000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L3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Rate Lock &amp; Order Appraisal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367" name="Google Shape;367;p17"/>
          <p:cNvCxnSpPr>
            <a:stCxn id="334" idx="3"/>
            <a:endCxn id="366" idx="1"/>
          </p:cNvCxnSpPr>
          <p:nvPr/>
        </p:nvCxnSpPr>
        <p:spPr>
          <a:xfrm>
            <a:off x="1970675" y="2561725"/>
            <a:ext cx="751500" cy="2205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8" name="Google Shape;368;p17"/>
          <p:cNvSpPr/>
          <p:nvPr/>
        </p:nvSpPr>
        <p:spPr>
          <a:xfrm>
            <a:off x="1768575" y="2634637"/>
            <a:ext cx="533400" cy="1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12a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50950" y="2752600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12b</a:t>
            </a:r>
            <a:endParaRPr b="1" sz="800">
              <a:solidFill>
                <a:srgbClr val="073763"/>
              </a:solidFill>
            </a:endParaRPr>
          </a:p>
        </p:txBody>
      </p:sp>
      <p:cxnSp>
        <p:nvCxnSpPr>
          <p:cNvPr id="370" name="Google Shape;370;p17"/>
          <p:cNvCxnSpPr>
            <a:stCxn id="300" idx="1"/>
            <a:endCxn id="305" idx="3"/>
          </p:cNvCxnSpPr>
          <p:nvPr/>
        </p:nvCxnSpPr>
        <p:spPr>
          <a:xfrm rot="10800000">
            <a:off x="1970350" y="3187057"/>
            <a:ext cx="2911500" cy="108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1" name="Google Shape;371;p17"/>
          <p:cNvCxnSpPr>
            <a:stCxn id="366" idx="1"/>
            <a:endCxn id="305" idx="3"/>
          </p:cNvCxnSpPr>
          <p:nvPr/>
        </p:nvCxnSpPr>
        <p:spPr>
          <a:xfrm flipH="1">
            <a:off x="1970400" y="2782075"/>
            <a:ext cx="751800" cy="4050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372" name="Google Shape;372;p17"/>
          <p:cNvSpPr/>
          <p:nvPr/>
        </p:nvSpPr>
        <p:spPr>
          <a:xfrm>
            <a:off x="2414687" y="2864475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13a</a:t>
            </a:r>
            <a:endParaRPr b="1" sz="800">
              <a:solidFill>
                <a:srgbClr val="7F6000"/>
              </a:solidFill>
            </a:endParaRPr>
          </a:p>
        </p:txBody>
      </p:sp>
      <p:cxnSp>
        <p:nvCxnSpPr>
          <p:cNvPr id="373" name="Google Shape;373;p17"/>
          <p:cNvCxnSpPr>
            <a:stCxn id="349" idx="3"/>
            <a:endCxn id="341" idx="1"/>
          </p:cNvCxnSpPr>
          <p:nvPr/>
        </p:nvCxnSpPr>
        <p:spPr>
          <a:xfrm>
            <a:off x="6320143" y="2549595"/>
            <a:ext cx="913500" cy="9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74" name="Google Shape;374;p17"/>
          <p:cNvSpPr/>
          <p:nvPr/>
        </p:nvSpPr>
        <p:spPr>
          <a:xfrm>
            <a:off x="6099100" y="2596901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10a</a:t>
            </a:r>
            <a:endParaRPr b="1" sz="800">
              <a:solidFill>
                <a:srgbClr val="990000"/>
              </a:solidFill>
            </a:endParaRPr>
          </a:p>
        </p:txBody>
      </p:sp>
      <p:pic>
        <p:nvPicPr>
          <p:cNvPr id="375" name="Google Shape;3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9375" y="1996397"/>
            <a:ext cx="808164" cy="37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17"/>
          <p:cNvGrpSpPr/>
          <p:nvPr/>
        </p:nvGrpSpPr>
        <p:grpSpPr>
          <a:xfrm>
            <a:off x="6743221" y="2653160"/>
            <a:ext cx="477900" cy="257123"/>
            <a:chOff x="6755721" y="2731418"/>
            <a:chExt cx="477900" cy="257123"/>
          </a:xfrm>
        </p:grpSpPr>
        <p:cxnSp>
          <p:nvCxnSpPr>
            <p:cNvPr id="377" name="Google Shape;377;p17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378" name="Google Shape;378;p17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379" name="Google Shape;379;p17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cxnSp>
        <p:nvCxnSpPr>
          <p:cNvPr id="380" name="Google Shape;380;p17"/>
          <p:cNvCxnSpPr>
            <a:stCxn id="340" idx="1"/>
            <a:endCxn id="349" idx="3"/>
          </p:cNvCxnSpPr>
          <p:nvPr/>
        </p:nvCxnSpPr>
        <p:spPr>
          <a:xfrm flipH="1">
            <a:off x="6320190" y="2040717"/>
            <a:ext cx="912900" cy="508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1" name="Google Shape;381;p17"/>
          <p:cNvCxnSpPr>
            <a:stCxn id="366" idx="3"/>
            <a:endCxn id="300" idx="1"/>
          </p:cNvCxnSpPr>
          <p:nvPr/>
        </p:nvCxnSpPr>
        <p:spPr>
          <a:xfrm>
            <a:off x="4228200" y="2782075"/>
            <a:ext cx="653700" cy="4158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382" name="Google Shape;382;p17"/>
          <p:cNvSpPr/>
          <p:nvPr/>
        </p:nvSpPr>
        <p:spPr>
          <a:xfrm>
            <a:off x="3925162" y="2882663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13b</a:t>
            </a:r>
            <a:endParaRPr b="1" sz="800">
              <a:solidFill>
                <a:srgbClr val="7F6000"/>
              </a:solidFill>
            </a:endParaRPr>
          </a:p>
        </p:txBody>
      </p:sp>
      <p:cxnSp>
        <p:nvCxnSpPr>
          <p:cNvPr id="383" name="Google Shape;383;p17"/>
          <p:cNvCxnSpPr>
            <a:stCxn id="366" idx="3"/>
            <a:endCxn id="342" idx="1"/>
          </p:cNvCxnSpPr>
          <p:nvPr/>
        </p:nvCxnSpPr>
        <p:spPr>
          <a:xfrm>
            <a:off x="4228200" y="2782075"/>
            <a:ext cx="3005400" cy="199800"/>
          </a:xfrm>
          <a:prstGeom prst="straightConnector1">
            <a:avLst/>
          </a:prstGeom>
          <a:noFill/>
          <a:ln cap="flat" cmpd="sng" w="28575">
            <a:solidFill>
              <a:srgbClr val="7F6000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384" name="Google Shape;384;p17"/>
          <p:cNvSpPr/>
          <p:nvPr/>
        </p:nvSpPr>
        <p:spPr>
          <a:xfrm>
            <a:off x="4120512" y="2636775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13c</a:t>
            </a:r>
            <a:endParaRPr b="1" sz="800">
              <a:solidFill>
                <a:srgbClr val="7F6000"/>
              </a:solidFill>
            </a:endParaRPr>
          </a:p>
        </p:txBody>
      </p:sp>
      <p:grpSp>
        <p:nvGrpSpPr>
          <p:cNvPr id="385" name="Google Shape;385;p17"/>
          <p:cNvGrpSpPr/>
          <p:nvPr/>
        </p:nvGrpSpPr>
        <p:grpSpPr>
          <a:xfrm>
            <a:off x="6766815" y="3014361"/>
            <a:ext cx="477900" cy="257123"/>
            <a:chOff x="6755721" y="2731418"/>
            <a:chExt cx="477900" cy="257123"/>
          </a:xfrm>
        </p:grpSpPr>
        <p:cxnSp>
          <p:nvCxnSpPr>
            <p:cNvPr id="386" name="Google Shape;386;p17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387" name="Google Shape;387;p17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388" name="Google Shape;388;p17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cxnSp>
        <p:nvCxnSpPr>
          <p:cNvPr id="389" name="Google Shape;389;p17"/>
          <p:cNvCxnSpPr>
            <a:stCxn id="343" idx="1"/>
            <a:endCxn id="300" idx="2"/>
          </p:cNvCxnSpPr>
          <p:nvPr/>
        </p:nvCxnSpPr>
        <p:spPr>
          <a:xfrm rot="10800000">
            <a:off x="5600996" y="3335516"/>
            <a:ext cx="1632600" cy="16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90" name="Google Shape;390;p17"/>
          <p:cNvSpPr/>
          <p:nvPr/>
        </p:nvSpPr>
        <p:spPr>
          <a:xfrm>
            <a:off x="7111225" y="3321975"/>
            <a:ext cx="436800" cy="192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17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7249133" y="4332165"/>
            <a:ext cx="14385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E6 (Notary)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2508925" y="4029847"/>
            <a:ext cx="533400" cy="17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23a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4038588" y="3791272"/>
            <a:ext cx="533400" cy="17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23b</a:t>
            </a:r>
            <a:endParaRPr b="1" sz="800">
              <a:solidFill>
                <a:srgbClr val="7F6000"/>
              </a:solidFill>
            </a:endParaRPr>
          </a:p>
        </p:txBody>
      </p:sp>
      <p:cxnSp>
        <p:nvCxnSpPr>
          <p:cNvPr id="394" name="Google Shape;394;p17"/>
          <p:cNvCxnSpPr>
            <a:stCxn id="311" idx="3"/>
            <a:endCxn id="300" idx="2"/>
          </p:cNvCxnSpPr>
          <p:nvPr/>
        </p:nvCxnSpPr>
        <p:spPr>
          <a:xfrm flipH="1" rot="10800000">
            <a:off x="1970315" y="3335259"/>
            <a:ext cx="3630900" cy="5907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95" name="Google Shape;395;p17"/>
          <p:cNvSpPr/>
          <p:nvPr/>
        </p:nvSpPr>
        <p:spPr>
          <a:xfrm>
            <a:off x="3869988" y="3271597"/>
            <a:ext cx="533400" cy="17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20b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1671050" y="3960686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22b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1654050" y="4337473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25a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1768575" y="4589598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25c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-125837" y="4303773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25b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736450" y="4801900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26c</a:t>
            </a:r>
            <a:endParaRPr b="1" sz="800">
              <a:solidFill>
                <a:srgbClr val="7F6000"/>
              </a:solidFill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3670812" y="4830625"/>
            <a:ext cx="533400" cy="16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6000"/>
                </a:solidFill>
              </a:rPr>
              <a:t>26b</a:t>
            </a:r>
            <a:endParaRPr b="1" sz="800">
              <a:solidFill>
                <a:srgbClr val="7F6000"/>
              </a:solidFill>
            </a:endParaRPr>
          </a:p>
        </p:txBody>
      </p:sp>
      <p:grpSp>
        <p:nvGrpSpPr>
          <p:cNvPr id="402" name="Google Shape;402;p17"/>
          <p:cNvGrpSpPr/>
          <p:nvPr/>
        </p:nvGrpSpPr>
        <p:grpSpPr>
          <a:xfrm>
            <a:off x="6771021" y="4430223"/>
            <a:ext cx="477900" cy="257123"/>
            <a:chOff x="6755721" y="2731418"/>
            <a:chExt cx="477900" cy="257123"/>
          </a:xfrm>
        </p:grpSpPr>
        <p:cxnSp>
          <p:nvCxnSpPr>
            <p:cNvPr id="403" name="Google Shape;403;p17"/>
            <p:cNvCxnSpPr/>
            <p:nvPr/>
          </p:nvCxnSpPr>
          <p:spPr>
            <a:xfrm flipH="1">
              <a:off x="6802821" y="2762877"/>
              <a:ext cx="430800" cy="115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404" name="Google Shape;404;p17"/>
            <p:cNvCxnSpPr/>
            <p:nvPr/>
          </p:nvCxnSpPr>
          <p:spPr>
            <a:xfrm flipH="1">
              <a:off x="6755721" y="2731418"/>
              <a:ext cx="477900" cy="3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405" name="Google Shape;405;p17"/>
            <p:cNvCxnSpPr/>
            <p:nvPr/>
          </p:nvCxnSpPr>
          <p:spPr>
            <a:xfrm flipH="1">
              <a:off x="6873621" y="2770741"/>
              <a:ext cx="360000" cy="21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</p:cxnSp>
      </p:grpSp>
      <p:sp>
        <p:nvSpPr>
          <p:cNvPr id="406" name="Google Shape;406;p17"/>
          <p:cNvSpPr/>
          <p:nvPr/>
        </p:nvSpPr>
        <p:spPr>
          <a:xfrm>
            <a:off x="7139775" y="3067025"/>
            <a:ext cx="436800" cy="16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407" name="Google Shape;407;p17"/>
          <p:cNvCxnSpPr>
            <a:stCxn id="343" idx="1"/>
          </p:cNvCxnSpPr>
          <p:nvPr/>
        </p:nvCxnSpPr>
        <p:spPr>
          <a:xfrm rot="10800000">
            <a:off x="6724196" y="3350216"/>
            <a:ext cx="509400" cy="15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08" name="Google Shape;408;p17"/>
          <p:cNvSpPr/>
          <p:nvPr/>
        </p:nvSpPr>
        <p:spPr>
          <a:xfrm>
            <a:off x="7183596" y="2650669"/>
            <a:ext cx="3165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n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7233352" y="3925638"/>
            <a:ext cx="14385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E5 (Seller)</a:t>
            </a:r>
            <a:b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Closing Credit Approval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17"/>
          <p:cNvCxnSpPr>
            <a:stCxn id="300" idx="2"/>
            <a:endCxn id="301" idx="0"/>
          </p:cNvCxnSpPr>
          <p:nvPr/>
        </p:nvCxnSpPr>
        <p:spPr>
          <a:xfrm>
            <a:off x="5601135" y="3335407"/>
            <a:ext cx="0" cy="6471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11" name="Google Shape;411;p17"/>
          <p:cNvSpPr/>
          <p:nvPr/>
        </p:nvSpPr>
        <p:spPr>
          <a:xfrm>
            <a:off x="5164323" y="3554963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24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412" name="Google Shape;412;p17"/>
          <p:cNvCxnSpPr>
            <a:stCxn id="311" idx="0"/>
            <a:endCxn id="305" idx="2"/>
          </p:cNvCxnSpPr>
          <p:nvPr/>
        </p:nvCxnSpPr>
        <p:spPr>
          <a:xfrm rot="-5400000">
            <a:off x="948270" y="3550959"/>
            <a:ext cx="372000" cy="600"/>
          </a:xfrm>
          <a:prstGeom prst="bentConnector3">
            <a:avLst>
              <a:gd fmla="val 49984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413" name="Google Shape;413;p17"/>
          <p:cNvCxnSpPr>
            <a:stCxn id="305" idx="2"/>
            <a:endCxn id="300" idx="1"/>
          </p:cNvCxnSpPr>
          <p:nvPr/>
        </p:nvCxnSpPr>
        <p:spPr>
          <a:xfrm flipH="1" rot="10800000">
            <a:off x="1133970" y="3197976"/>
            <a:ext cx="3747900" cy="167400"/>
          </a:xfrm>
          <a:prstGeom prst="straightConnector1">
            <a:avLst/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4" name="Google Shape;414;p17"/>
          <p:cNvCxnSpPr>
            <a:stCxn id="300" idx="2"/>
            <a:endCxn id="409" idx="0"/>
          </p:cNvCxnSpPr>
          <p:nvPr/>
        </p:nvCxnSpPr>
        <p:spPr>
          <a:xfrm>
            <a:off x="5601135" y="3335407"/>
            <a:ext cx="2351400" cy="5901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5" name="Google Shape;415;p17"/>
          <p:cNvCxnSpPr>
            <a:endCxn id="305" idx="1"/>
          </p:cNvCxnSpPr>
          <p:nvPr/>
        </p:nvCxnSpPr>
        <p:spPr>
          <a:xfrm flipH="1" rot="10800000">
            <a:off x="-15875" y="3187176"/>
            <a:ext cx="313500" cy="1710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17"/>
          <p:cNvCxnSpPr>
            <a:stCxn id="343" idx="3"/>
          </p:cNvCxnSpPr>
          <p:nvPr/>
        </p:nvCxnSpPr>
        <p:spPr>
          <a:xfrm flipH="1" rot="10800000">
            <a:off x="8672121" y="3342416"/>
            <a:ext cx="466500" cy="162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417" name="Google Shape;417;p17"/>
          <p:cNvSpPr/>
          <p:nvPr/>
        </p:nvSpPr>
        <p:spPr>
          <a:xfrm>
            <a:off x="-69000" y="3015475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15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8638675" y="3203675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C4587"/>
                </a:solidFill>
              </a:rPr>
              <a:t>15</a:t>
            </a:r>
            <a:endParaRPr b="1" sz="800">
              <a:solidFill>
                <a:srgbClr val="1C4587"/>
              </a:solidFill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2139000" y="3319038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18a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01175" y="3372325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</a:rPr>
              <a:t>21</a:t>
            </a:r>
            <a:endParaRPr b="1" sz="800">
              <a:solidFill>
                <a:srgbClr val="073763"/>
              </a:solidFill>
            </a:endParaRPr>
          </a:p>
        </p:txBody>
      </p:sp>
      <p:sp>
        <p:nvSpPr>
          <p:cNvPr id="421" name="Google Shape;421;p17"/>
          <p:cNvSpPr/>
          <p:nvPr/>
        </p:nvSpPr>
        <p:spPr>
          <a:xfrm rot="655468">
            <a:off x="6328724" y="3452918"/>
            <a:ext cx="533468" cy="138089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18b</a:t>
            </a:r>
            <a:endParaRPr b="1" sz="800">
              <a:solidFill>
                <a:srgbClr val="990000"/>
              </a:solidFill>
            </a:endParaRPr>
          </a:p>
        </p:txBody>
      </p:sp>
      <p:cxnSp>
        <p:nvCxnSpPr>
          <p:cNvPr id="422" name="Google Shape;422;p17"/>
          <p:cNvCxnSpPr>
            <a:stCxn id="409" idx="1"/>
            <a:endCxn id="300" idx="2"/>
          </p:cNvCxnSpPr>
          <p:nvPr/>
        </p:nvCxnSpPr>
        <p:spPr>
          <a:xfrm rot="10800000">
            <a:off x="5601052" y="3335388"/>
            <a:ext cx="1632300" cy="74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23" name="Google Shape;423;p17"/>
          <p:cNvSpPr/>
          <p:nvPr/>
        </p:nvSpPr>
        <p:spPr>
          <a:xfrm rot="-2361">
            <a:off x="7019331" y="3863319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19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424" name="Google Shape;424;p17"/>
          <p:cNvCxnSpPr/>
          <p:nvPr/>
        </p:nvCxnSpPr>
        <p:spPr>
          <a:xfrm flipH="1" rot="10800000">
            <a:off x="-15875" y="4496176"/>
            <a:ext cx="313500" cy="1710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7"/>
          <p:cNvCxnSpPr/>
          <p:nvPr/>
        </p:nvCxnSpPr>
        <p:spPr>
          <a:xfrm flipH="1" rot="10800000">
            <a:off x="8687821" y="4366666"/>
            <a:ext cx="466500" cy="162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C4587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426" name="Google Shape;426;p17"/>
          <p:cNvSpPr/>
          <p:nvPr/>
        </p:nvSpPr>
        <p:spPr>
          <a:xfrm>
            <a:off x="8654363" y="4194262"/>
            <a:ext cx="5334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C4587"/>
                </a:solidFill>
              </a:rPr>
              <a:t>25b</a:t>
            </a:r>
            <a:endParaRPr b="1" sz="800">
              <a:solidFill>
                <a:srgbClr val="1C4587"/>
              </a:solidFill>
            </a:endParaRPr>
          </a:p>
        </p:txBody>
      </p:sp>
      <p:cxnSp>
        <p:nvCxnSpPr>
          <p:cNvPr id="427" name="Google Shape;427;p17"/>
          <p:cNvCxnSpPr>
            <a:stCxn id="349" idx="2"/>
            <a:endCxn id="300" idx="0"/>
          </p:cNvCxnSpPr>
          <p:nvPr/>
        </p:nvCxnSpPr>
        <p:spPr>
          <a:xfrm>
            <a:off x="5600893" y="2700645"/>
            <a:ext cx="300" cy="3597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28" name="Google Shape;428;p17"/>
          <p:cNvSpPr/>
          <p:nvPr/>
        </p:nvSpPr>
        <p:spPr>
          <a:xfrm>
            <a:off x="5545863" y="2713501"/>
            <a:ext cx="533400" cy="1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00"/>
                </a:solidFill>
              </a:rPr>
              <a:t>10d</a:t>
            </a:r>
            <a:endParaRPr b="1" sz="800">
              <a:solidFill>
                <a:srgbClr val="990000"/>
              </a:solidFill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7233358" y="4775267"/>
            <a:ext cx="1438500" cy="302100"/>
          </a:xfrm>
          <a:prstGeom prst="rect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E7 (Title Company)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430" name="Google Shape;430;p17"/>
          <p:cNvCxnSpPr>
            <a:stCxn id="429" idx="3"/>
          </p:cNvCxnSpPr>
          <p:nvPr/>
        </p:nvCxnSpPr>
        <p:spPr>
          <a:xfrm>
            <a:off x="8671858" y="4926317"/>
            <a:ext cx="459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7"/>
          <p:cNvCxnSpPr>
            <a:endCxn id="320" idx="1"/>
          </p:cNvCxnSpPr>
          <p:nvPr/>
        </p:nvCxnSpPr>
        <p:spPr>
          <a:xfrm>
            <a:off x="-31675" y="4983379"/>
            <a:ext cx="317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32" name="Google Shape;432;p17"/>
          <p:cNvSpPr/>
          <p:nvPr/>
        </p:nvSpPr>
        <p:spPr>
          <a:xfrm rot="-2361">
            <a:off x="8686981" y="4751825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27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433" name="Google Shape;433;p17"/>
          <p:cNvSpPr/>
          <p:nvPr/>
        </p:nvSpPr>
        <p:spPr>
          <a:xfrm rot="-2361">
            <a:off x="-89719" y="4791544"/>
            <a:ext cx="436800" cy="15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27</a:t>
            </a:r>
            <a:endParaRPr b="1" sz="800">
              <a:solidFill>
                <a:schemeClr val="dk1"/>
              </a:solidFill>
            </a:endParaRPr>
          </a:p>
        </p:txBody>
      </p:sp>
      <p:pic>
        <p:nvPicPr>
          <p:cNvPr id="434" name="Google Shape;43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2500" y="2430215"/>
            <a:ext cx="1834500" cy="4320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17"/>
          <p:cNvCxnSpPr>
            <a:stCxn id="341" idx="3"/>
            <a:endCxn id="375" idx="1"/>
          </p:cNvCxnSpPr>
          <p:nvPr/>
        </p:nvCxnSpPr>
        <p:spPr>
          <a:xfrm flipH="1" rot="10800000">
            <a:off x="8672134" y="2186030"/>
            <a:ext cx="477300" cy="3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36" name="Google Shape;436;p17"/>
          <p:cNvCxnSpPr>
            <a:stCxn id="341" idx="3"/>
            <a:endCxn id="434" idx="1"/>
          </p:cNvCxnSpPr>
          <p:nvPr/>
        </p:nvCxnSpPr>
        <p:spPr>
          <a:xfrm>
            <a:off x="8672134" y="2550530"/>
            <a:ext cx="410400" cy="9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37" name="Google Shape;437;p17"/>
          <p:cNvSpPr txBox="1"/>
          <p:nvPr/>
        </p:nvSpPr>
        <p:spPr>
          <a:xfrm>
            <a:off x="3000650" y="-9300"/>
            <a:ext cx="60942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rgbClr val="C27BA0"/>
                </a:solidFill>
              </a:rPr>
              <a:t>MVP Workflow (OLD)</a:t>
            </a:r>
            <a:endParaRPr b="1" sz="1300" u="sng">
              <a:solidFill>
                <a:srgbClr val="C27BA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27BA0"/>
                </a:solidFill>
              </a:rPr>
              <a:t>Buyer Definition: A serious home-buyer who has identified a property, plans to purchase within 2–3 months, and wants a clearer path from financing to closing — with or without a lender already selected.</a:t>
            </a:r>
            <a:endParaRPr b="1" sz="900">
              <a:solidFill>
                <a:srgbClr val="C27B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